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Open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66B845-1EDC-43A2-866E-C6FA973C604C}">
  <a:tblStyle styleId="{AB66B845-1EDC-43A2-866E-C6FA973C604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OpenSans-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Italic.fntdata"/><Relationship Id="rId3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Esta apresentação explica a função de cada interface da placa e percorre o caminho completo da medição até a atuação. A placa-base conecta um Compute Module 5, responsável pela supervisão, a um Pico com RP2040, responsável pelas tarefas locais. A entrada do fotodiodo e os três canais de bias formam a interface com a bancada óptica. As imagens são representações do CAD e da montagem descrita no projeto. O corpo 3D do Pico utilizado no material é o modelo fornecido de Pico W, enquanto a BOM elétrica identifica o Pico SC0915. A imagem serve à visualização do módulo na placa.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4 do relatório. Modelo STEP do CM5 de origem EDATEC, conforme a documentação do projeto.</a:t>
            </a:r>
            <a:endParaRPr/>
          </a:p>
        </p:txBody>
      </p:sp>
      <p:sp>
        <p:nvSpPr>
          <p:cNvPr id="29" name="Google Shape;2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laser fornece a luz que atravessa o modulador. Uma parte da luz de saída segue para o monitor óptico, onde o fotodiodo a transforma em corrente. A placa lê essa informação, processa as amostras e disponibiliza tensões de polarização. O ajuste do bias modifica a transmissão óptica e, portanto, altera a informação observada novamente no fotodiodo. O gerador de RF, o laser e o receptor rápido pertencem à bancada externa. A eletrônica desta placa atende ao monitoramento e ao controle lento. O diagrama mostra o percurso funcional previsto. A política de ajuste depende do algoritmo executado no RP2040 e da configuração supervisionada pelo CM5.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3 do relatório.</a:t>
            </a:r>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No modelo ideal, a luz se divide em dois braços e se recombina na saída. A diferença de fase determina a interferência e a transmissão. A parcela contínua de tensão, chamada bias, desloca o ponto de operação. A figura usa uma diferença de fase normalizada e não atribui um Vpi a um modulador comercial. Os pontos de quadratura aparecem na metade da transmissão máxima. A tensão necessária para alcançar um desses pontos depende do dispositivo e de suas condições de operação. O controle de polarização busca acompanhar esse ponto de interesse a partir do sinal monitorado.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 do relatório.</a:t>
            </a:r>
            <a:endParaRPr/>
          </a:p>
        </p:txBody>
      </p:sp>
      <p:sp>
        <p:nvSpPr>
          <p:cNvPr id="53" name="Google Shape;5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Os designadores são referências compartilhadas pelo esquemático, pelo layout e pela lista de materiais. J200 está na região de alimentação. J500 fica junto à etapa sensível do fotodiodo. Os três SMA de saída se alinham na região dos drivers. J100 e J101 recebem diretamente o CM5. USB-C, I²C e ventilação são interfaces auxiliares do módulo. O mapa localiza as funções, e as tabelas seguintes detalham o sinal que entra ou sai em cada conector. A placa-base possui dimensões nominais de 180 por 120 milímetros.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mapa_r6.png, pacote CAD.</a:t>
            </a:r>
            <a:endParaRPr/>
          </a:p>
        </p:txBody>
      </p:sp>
      <p:sp>
        <p:nvSpPr>
          <p:cNvPr id="68" name="Google Shape;6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Compute Module 5 recebe alimentação e acesso aos sinais por conectores placa a placa. A instalação utiliza J100 e J101, com 100 contatos cada. O CM5 possui envelope nominal de 55 por 40 milímetros. O par especificado no projeto estabelece 4,0 milímetros entre as faces das PCBs. Os quatro pontos de fixação usam espaçadores compatíveis com essa altura. A vista explodida separa as peças em 30 milímetros para tornar os conectores visíveis, mas essa distância não representa a altura final de montagem. O módulo deve estar alinhado antes da fixação, com a alimentação desligada.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9. Referências do relatório: desenho Amphenol 10164227, https://cdn.amphenol-cs.com/media/wysiwyg/files/drawing/10164227.pdf e documentação CM5, https://datasheets.raspberrypi.com/cm5/cm5-datasheet.pdf.</a:t>
            </a:r>
            <a:endParaRPr/>
          </a:p>
        </p:txBody>
      </p:sp>
      <p:sp>
        <p:nvSpPr>
          <p:cNvPr id="82" name="Google Shape;8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CM5 organiza a interface do usuário, a configuração, o registro dos resultados e a supervisão. O Pico contém o RP2040 e controla a temporização das aquisições, as leituras do ADC, as atualizações do DAC e os sinais de habilitação. A UART liga os dois módulos por meio de U301 e U302, que são buffers dessa comunicação. O SPI conecta o Pico aos conversores. Cada dispositivo possui uma seleção própria, evitando que ADC e DAC sejam tratados como o mesmo destino. Os pulsos de heartbeat são sinais separados das mensagens UART. Eles informam atividade à lógica de proteção.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28 do relatório.</a:t>
            </a:r>
            <a:endParaRPr/>
          </a:p>
        </p:txBody>
      </p:sp>
      <p:sp>
        <p:nvSpPr>
          <p:cNvPr id="98" name="Google Shape;9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pino 1 de J200 recebe o terminal positivo da fonte regulada de 15 Vcc. O pino 2 conecta o retorno ao GND. F200 e Q200 participam da proteção da entrada antes da distribuição pela rede VIN_P. U200 é o conversor buck do ramo +5V_SYS. A figura registra seu valor nominal calculado próximo de 5,07 V. O CM5 e o regulador do próprio Pico fornecem ramos digitais separados de 3,3 V. U210 e U211 estabelecem os ramos dos drivers, enquanto U220 participa da geração negativa e U212 fornece AVDD5. REF_ADC, REF_DAC e VMID_DAC são referências de sinal e não saídas gerais para alimentar periféricos. A placa-base utiliza uma única fonte externa de 15 V.</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27 do relatório.</a:t>
            </a:r>
            <a:endParaRPr/>
          </a:p>
        </p:txBody>
      </p:sp>
      <p:sp>
        <p:nvSpPr>
          <p:cNvPr id="111" name="Google Shape;11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7" name="Google Shape;12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J102 tem o formato USB-C, mas o projeto utiliza o par de dados USB 2.0. As linhas de dados passam pela proteção U100. O circuito com U101 detecta a presença de VBUS. Essa detecção não conecta VBUS ao barramento +5V_SYS. Por isso, a alimentação principal permanece na fonte de J200. JP100 atua sobre CM5_BOOT_N e participa da seleção de boot conforme o procedimento e a variante do módulo. O Pico possui uma porta USB separada no próprio U300. É importante distinguir essas duas interfaces durante a programação.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12 do relatório.</a:t>
            </a:r>
            <a:endParaRPr/>
          </a:p>
        </p:txBody>
      </p:sp>
      <p:sp>
        <p:nvSpPr>
          <p:cNvPr id="128" name="Google Shape;12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J103 é uma interface opcional de expansão. O pino 1 fornece a tensão CM5_3V3 produzida dentro do CM5. O pino 2 estabelece o GND. O pino 3 transporta os dados SDA e o pino 4 o relógio SCL. Não é necessária uma fonte externa adicional de 3,3 V para essa função. O periférico deve aceitar alimentação e níveis lógicos de 3,3 V, e seu consumo faz parte da carga do ramo CM5_3V3. Os resistores de pull-up das linhas I²C devem referir-se a esse domínio. J103 pode ficar sem periférico quando a aplicação não usa essa expansão. Isso não interrompe o caminho principal do ADC, do DAC e dos drivers.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147" name="Google Shape;14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J104 reúne energia e controle de um ventilador de 5 V. A corrente do motor circula pelos pinos 2 e 1. O tacômetro do pino 3 informa a rotação por meio de pulsos. O pino 4 leva o comando PWM ao circuito do ventilador. PWM é modulação por largura de pulso: o comando altera a proporção do intervalo em nível ativo. O comportamento correspondente depende da especificação do ventilador. O desarme do bias por SW1000 não interrompe a alimentação de J104. Isso permite separar a refrigeração dos contatos de saída do modulador.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162" name="Google Shape;16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conector U.FL J500 recebe o sinal de corrente do fotodiodo monitor. A blindagem é a referência GND. A luz não entra diretamente na PCB. No circuito, o centro de J500 liga-se a R506, de 10 kΩ, e à etapa inversora de U500. O amplificador mantém seu nó interno próximo de VDARK. A polaridade adotada no projeto considera a corrente retirada desse nó em direção ao GND, elevando a tensão de saída do TIA. TP500 está antes da filtragem e TP501 está no sinal que segue para AIN0 do conversor. Esse caminho acompanha o monitor lento da bancada.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6 do relatório.</a:t>
            </a:r>
            <a:endParaRPr/>
          </a:p>
        </p:txBody>
      </p:sp>
      <p:sp>
        <p:nvSpPr>
          <p:cNvPr id="177" name="Google Shape;177;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TIA significa amplificador de transimpedância. A relação entre saída e corrente possui unidade de ohms: uma corrente de 1 microampère, multiplicada por 220 quilohms, acrescenta 0,22 V ao nível de referência. A referência VDARK é próxima de 0,2478 V. Assim, 5 microampères produzem cerca de 1,3478 V no cálculo nominal. Esses números representam uma aproximação de baixa frequência com amplificador em região linear. R500 e C500, de 100 pF, compõem a realimentação. A seguir, U502 e sua rede formam um filtro Sallen-Key com frequência natural próxima de 232 Hz e Q próximo de 0,73. R505 e C507 completam o caminho de entrada do ADC. Os componentes rápidos sofrem atenuação antes da leitura.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193" name="Google Shape;19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ADC é o conversor analógico-digital. Ele associa a tensão observada a um código que pode ser processado pelo RP2040. No projeto, o ADS1256 usa a referência de 2,5 V do ADR431, U401. AINCOM está ligado ao GND. AIN0 recebe a informação do fotodiodo, e AIN1 a AIN3 recebem os sinais de monitoramento dos canais de bias. As redes MON reduzem e deslocam a tensão bipolar para o domínio da aquisição. O ADS1256 seleciona as entradas em sequência pelo multiplexador. A leitura de quatro entradas não corresponde a quatro amostras simultâneas. O RP2040 acompanha DRDY e o tempo de acomodação. Ruído, taxa de conversão, configuração e seleção dos canais influenciam a informação efetiva.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Documentação citada no relatório: https://www.ti.com/lit/ds/symlink/ads1256.pdf.</a:t>
            </a:r>
            <a:endParaRPr/>
          </a:p>
        </p:txBody>
      </p:sp>
      <p:sp>
        <p:nvSpPr>
          <p:cNvPr id="210" name="Google Shape;21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DAC faz a conversão oposta à do ADC. Um código digital determina uma tensão de comando. O DAC80504 possui quatro canais de 16 bits. Três são utilizados nos drivers I, Q e PHI. A quarta saída permanece acessível em TP600, sem o mesmo driver e desarme dos SMA. U601 fornece VMID_DAC, próxima de 1,25 V. Cada driver amplifica em 6,34 a diferença entre o comando e essa referência. A subtração permite criar polaridades positiva e negativa a partir do DAC unipolar. A excursão indicada é um cálculo ideal de comando do driver. A tensão entregue ao MZM também depende do filtro, do relé, da interface e da carga, e a faixa de operação do modulador é definida pelo dispositivo.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Documentação citada no relatório: https://www.ti.com/lit/ds/symlink/dac80504.pdf.</a:t>
            </a:r>
            <a:endParaRPr/>
          </a:p>
        </p:txBody>
      </p:sp>
      <p:sp>
        <p:nvSpPr>
          <p:cNvPr id="224" name="Google Shape;22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 Q e PHI são identificações de três caminhos analógicos independentes. J700 recebe o canal I, J800 recebe Q e J900 recebe PHI. O centro do SMA transporta a tensão de bias e a blindagem é o retorno GND. Uma montagem com MZM simples pode utilizar apenas J700, deixando os demais canais livres. Um modulador IQ compatível pode oferecer eletrodos distintos para esses controles, seguindo sua pinagem. As saídas não devem ser unidas entre si. O uso de SMA e cabo coaxial facilita a conexão, mas não obriga a aplicar uma carga de 50 ohms ao bias.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8 do relatório.</a:t>
            </a:r>
            <a:endParaRPr/>
          </a:p>
        </p:txBody>
      </p:sp>
      <p:sp>
        <p:nvSpPr>
          <p:cNvPr id="238" name="Google Shape;238;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Cada relé possui um contato que escolhe o caminho da saída. Quando energizado, conecta o bias filtrado ao SMA. Em repouso, a saída conecta-se ao GND por um resistor de 1 kΩ. Os comparadores observam as janelas das redes de monitoramento e das alimentações analógicas. A rede FAULT_N solicita desarme quando indica falha. Os temporizadores acompanham as bordas dos pulsos de atividade do CM5 e do RP2040. U1001 combina as permissões e Q1000 aciona as bobinas. SW1000 pode interromper fisicamente a alimentação das bobinas. O desarme desconecta o driver da saída, mas outros ramos da placa podem permanecer energizados. A recuperação e o rearmamento dependem da lógica de controle adotada.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29 do relatório.</a:t>
            </a:r>
            <a:endParaRPr/>
          </a:p>
        </p:txBody>
      </p:sp>
      <p:sp>
        <p:nvSpPr>
          <p:cNvPr id="254" name="Google Shape;254;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BIAS_F identifica a tensão depois do filtro de saída e antes do contato do relé. BIAS_OUT identifica a tensão efetivamente ligada ao conector SMA. No canal I, os pontos são TP700 e TP701. Os canais Q e PHI repetem a estrutura com TP800 e TP801, e TP900 e TP901. A rede de monitoramento MON lê o lado anterior ao relé. Assim, uma leitura interna não confirma sozinha o fechamento do contato nem a conexão do cabo ao modulador. Com o relé em repouso, o driver pode continuar apresentando tensão em TP700, enquanto TP701 segue o caminho de repouso ao GND. Essa distinção é essencial na bancada.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7 do relatório.</a:t>
            </a:r>
            <a:endParaRPr/>
          </a:p>
        </p:txBody>
      </p:sp>
      <p:sp>
        <p:nvSpPr>
          <p:cNvPr id="267" name="Google Shape;267;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teste elétrico permite estudar o caminho de entrada sem conectar o fotodiodo. O gerador se liga ao centro de J500 através de um resistor externo de 100 kΩ. Seu retorno vai ao GND. Esse resistor se soma a R506, de 10 kΩ, presente na placa, e transforma a diferença de potencial em uma corrente limitada. A ligação direta do gerador ao centro de J500 não corresponde a esse ensaio. O exemplo usa 17 Hz, 200 mVpp e offset nulo, com a indicação de carga Hi-Z no gerador. CH1 observa TP500, e CH2 observa TP501. O cálculo nominal prevê aproximadamente 0,743 V de média e 0,400 Vpp em TP500 para essas condições. São valores calculados, e não capturas experimentais.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Imagens: Figuras 13 e 14 do relatório.</a:t>
            </a:r>
            <a:endParaRPr/>
          </a:p>
        </p:txBody>
      </p:sp>
      <p:sp>
        <p:nvSpPr>
          <p:cNvPr id="279" name="Google Shape;279;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No ensaio de saída, o gerador externo fica desconectado. A própria placa produz o comando pelo DAC e pelo driver. O osciloscópio compara TP700 com TP701, antes e depois do relé do canal I. Uma carga de 10 kΩ pode ser ligada entre o centro de J700 e GND. Usam-se entrada de alta impedância, acoplamento DC e pontas com fator corretamente configurado. As garras de terra permanecem no GND da placa. Em osciloscópios comuns de bancada, as blindagens compartilham o terra do instrumento. Para os canais Q e PHI, repetem-se as medidas nos respectivos pares de pontos de teste. As telas do desenho ilustram os sinais e não são registros experimentais.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16 do relatório.</a:t>
            </a:r>
            <a:endParaRPr/>
          </a:p>
        </p:txBody>
      </p:sp>
      <p:sp>
        <p:nvSpPr>
          <p:cNvPr id="295" name="Google Shape;295;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1" name="Google Shape;311;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 receptor óptico rápido converte o sinal de dados para os instrumentos de aquisição apropriados à banda da transmissão. A placa de bias utiliza um caminho diferente, dedicado ao monitor lento. O fotodiodo, o TIA e o filtro fornecem a informação em TP501, que também segue ao ADC. Por isso, TP501 não representa a reprodução integral do sinal óptico de alta velocidade. Para observar a tensão contínua aplicada ao modulador, usa-se o ponto após o relé, como TP701 no canal I, com entrada de alta impedância. A figura separa os caminhos para evitar interpretar o monitor filtrado como um receptor de dados.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a:p>
            <a:pPr indent="0" lvl="0" marL="0" rtl="0" algn="l">
              <a:spcBef>
                <a:spcPts val="0"/>
              </a:spcBef>
              <a:spcAft>
                <a:spcPts val="0"/>
              </a:spcAft>
              <a:buNone/>
            </a:pPr>
            <a:r>
              <a:rPr lang="en-US" sz="1200"/>
              <a:t>Imagem: Figura 23 do relatório.</a:t>
            </a:r>
            <a:endParaRPr/>
          </a:p>
        </p:txBody>
      </p:sp>
      <p:sp>
        <p:nvSpPr>
          <p:cNvPr id="312" name="Google Shape;312;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A sequência começa pela alimentação e configuração dos circuitos. O comando de zero bias corresponde a uma tensão de DAC próxima de 1,25 V na configuração nominal. Enquanto a autorização não está presente, os relés ficam em repouso. O Pico acompanha as conversões e a situação das proteções. O CM5 supervisiona, configura e registra. O algoritmo relaciona a medição óptica ao código de comando enviado ao DAC. As permissões combinam atividade dos controladores, ausência de falha detectada e autorização física. A abertura de SW1000, a perda de heartbeat após a temporização ou a detecção de falha retira a autorização. Esse fluxo descreve a arquitetura e não transforma o modelo ideal de MZM em uma demonstração experimental de malha fechada.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324" name="Google Shape;324;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Esta tabela funciona como mapa final de ligação. J200 fornece energia ao conjunto. J100 e J101 recebem o próprio CM5. J102 atende ao USB do CM5, enquanto o Pico possui sua porta no módulo U300. J103 é uma expansão I²C alimentada em 3,3 V pelo CM5. J104 recebe um ventilador de 5 V. J500 é uma entrada elétrica de corrente do fotodiodo. Os SMA entregam tensões de bias. O canal I atende à montagem simples apresentada, e os canais adicionais se destinam a interfaces compatíveis de um modulador IQ.</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Fontes: Relatorio_CM5_RP2040_MZM_R6.docx, capítulo 4 e Apêndice B. Pacote CM5_Projeto3_R6_Designadores_Corrigidos.zip, Conectividade_pinos_R6.csv e BOM_PCB_R6.csv. Consulta em 23/10/2026.</a:t>
            </a:r>
            <a:endParaRPr/>
          </a:p>
        </p:txBody>
      </p:sp>
      <p:sp>
        <p:nvSpPr>
          <p:cNvPr id="345" name="Google Shape;345;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828800" y="3886200"/>
            <a:ext cx="14630400" cy="14859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7200"/>
              <a:buFont typeface="Arial"/>
              <a:buNone/>
              <a:defRPr b="1" i="0" sz="72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7200"/>
              <a:buFont typeface="Arial"/>
              <a:buNone/>
              <a:defRPr b="1" sz="7200">
                <a:solidFill>
                  <a:schemeClr val="dk1"/>
                </a:solidFill>
                <a:latin typeface="Arial"/>
                <a:ea typeface="Arial"/>
                <a:cs typeface="Arial"/>
                <a:sym typeface="Arial"/>
              </a:defRPr>
            </a:lvl9pPr>
          </a:lstStyle>
          <a:p/>
        </p:txBody>
      </p:sp>
      <p:sp>
        <p:nvSpPr>
          <p:cNvPr id="13" name="Google Shape;13;p3"/>
          <p:cNvSpPr txBox="1"/>
          <p:nvPr>
            <p:ph idx="1" type="subTitle"/>
          </p:nvPr>
        </p:nvSpPr>
        <p:spPr>
          <a:xfrm>
            <a:off x="2743200" y="5657850"/>
            <a:ext cx="12801600" cy="11430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1pPr>
            <a:lvl2pPr lvl="1"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2pPr>
            <a:lvl3pPr lvl="2"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3pPr>
            <a:lvl4pPr lvl="3"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4pPr>
            <a:lvl5pPr lvl="4"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5pPr>
            <a:lvl6pPr lvl="5"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6pPr>
            <a:lvl7pPr lvl="6"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7pPr>
            <a:lvl8pPr lvl="7"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8pPr>
            <a:lvl9pPr lvl="8" marR="0" rtl="0" algn="ctr">
              <a:lnSpc>
                <a:spcPct val="110000"/>
              </a:lnSpc>
              <a:spcBef>
                <a:spcPts val="0"/>
              </a:spcBef>
              <a:spcAft>
                <a:spcPts val="0"/>
              </a:spcAft>
              <a:buClr>
                <a:schemeClr val="dk1"/>
              </a:buClr>
              <a:buSzPts val="3150"/>
              <a:buFont typeface="Arial"/>
              <a:buNone/>
              <a:defRPr b="0" i="0" sz="31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828800" y="4286250"/>
            <a:ext cx="14630400" cy="1714500"/>
          </a:xfrm>
          <a:prstGeom prst="rect">
            <a:avLst/>
          </a:prstGeom>
          <a:noFill/>
          <a:ln>
            <a:noFill/>
          </a:ln>
        </p:spPr>
        <p:txBody>
          <a:bodyPr anchorCtr="0" anchor="ctr" bIns="0" lIns="0" spcFirstLastPara="1" rIns="0" wrap="square" tIns="0">
            <a:normAutofit/>
          </a:bodyPr>
          <a:lstStyle>
            <a:lvl1pPr lvl="0" marR="0" rtl="0" algn="ctr">
              <a:lnSpc>
                <a:spcPct val="110000"/>
              </a:lnSpc>
              <a:spcBef>
                <a:spcPts val="0"/>
              </a:spcBef>
              <a:spcAft>
                <a:spcPts val="0"/>
              </a:spcAft>
              <a:buClr>
                <a:schemeClr val="dk1"/>
              </a:buClr>
              <a:buSzPts val="6300"/>
              <a:buFont typeface="Arial"/>
              <a:buNone/>
              <a:defRPr b="1" i="0" sz="6300" u="none" cap="none" strike="noStrike">
                <a:solidFill>
                  <a:schemeClr val="dk1"/>
                </a:solidFill>
                <a:latin typeface="Arial"/>
                <a:ea typeface="Arial"/>
                <a:cs typeface="Arial"/>
                <a:sym typeface="Arial"/>
              </a:defRPr>
            </a:lvl1pPr>
            <a:lvl2pPr lvl="1"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2pPr>
            <a:lvl3pPr lvl="2"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3pPr>
            <a:lvl4pPr lvl="3"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4pPr>
            <a:lvl5pPr lvl="4"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5pPr>
            <a:lvl6pPr lvl="5"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6pPr>
            <a:lvl7pPr lvl="6"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7pPr>
            <a:lvl8pPr lvl="7"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8pPr>
            <a:lvl9pPr lvl="8" algn="ctr">
              <a:lnSpc>
                <a:spcPct val="110000"/>
              </a:lnSpc>
              <a:spcBef>
                <a:spcPts val="0"/>
              </a:spcBef>
              <a:spcAft>
                <a:spcPts val="0"/>
              </a:spcAft>
              <a:buClr>
                <a:schemeClr val="dk1"/>
              </a:buClr>
              <a:buSzPts val="6300"/>
              <a:buFont typeface="Arial"/>
              <a:buNone/>
              <a:defRPr b="1" sz="6300">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1028700" y="800100"/>
            <a:ext cx="16230600" cy="12573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950"/>
              <a:buFont typeface="Arial"/>
              <a:buNone/>
              <a:defRPr b="1" i="0" sz="495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9pPr>
          </a:lstStyle>
          <a:p/>
        </p:txBody>
      </p:sp>
      <p:sp>
        <p:nvSpPr>
          <p:cNvPr id="18" name="Google Shape;18;p5"/>
          <p:cNvSpPr txBox="1"/>
          <p:nvPr>
            <p:ph idx="1" type="body"/>
          </p:nvPr>
        </p:nvSpPr>
        <p:spPr>
          <a:xfrm>
            <a:off x="1028700" y="2857500"/>
            <a:ext cx="16230600" cy="6400800"/>
          </a:xfrm>
          <a:prstGeom prst="rect">
            <a:avLst/>
          </a:prstGeom>
          <a:noFill/>
          <a:ln>
            <a:noFill/>
          </a:ln>
        </p:spPr>
        <p:txBody>
          <a:bodyPr anchorCtr="0" anchor="t" bIns="0" lIns="0" spcFirstLastPara="1" rIns="0" wrap="square" tIns="0">
            <a:normAutofit/>
          </a:bodyPr>
          <a:lstStyle>
            <a:lvl1pPr indent="-442913" lvl="0" marL="457200" marR="0" rtl="0" algn="l">
              <a:lnSpc>
                <a:spcPct val="110000"/>
              </a:lnSpc>
              <a:spcBef>
                <a:spcPts val="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1pPr>
            <a:lvl2pPr indent="-442913" lvl="1" marL="9144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2pPr>
            <a:lvl3pPr indent="-442913" lvl="2" marL="13716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3pPr>
            <a:lvl4pPr indent="-442913" lvl="3" marL="18288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4pPr>
            <a:lvl5pPr indent="-442913" lvl="4" marL="22860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5pPr>
            <a:lvl6pPr indent="-442913" lvl="5" marL="27432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6pPr>
            <a:lvl7pPr indent="-442913" lvl="6" marL="32004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7pPr>
            <a:lvl8pPr indent="-442913" lvl="7" marL="36576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8pPr>
            <a:lvl9pPr indent="-442913" lvl="8" marL="4114800" marR="0" rtl="0" algn="l">
              <a:lnSpc>
                <a:spcPct val="110000"/>
              </a:lnSpc>
              <a:spcBef>
                <a:spcPts val="1800"/>
              </a:spcBef>
              <a:spcAft>
                <a:spcPts val="1800"/>
              </a:spcAft>
              <a:buClr>
                <a:schemeClr val="dk1"/>
              </a:buClr>
              <a:buSzPts val="3375"/>
              <a:buFont typeface="Arial"/>
              <a:buChar char="•"/>
              <a:defRPr b="0" i="0" sz="3375"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1028700" y="800100"/>
            <a:ext cx="16230600" cy="12573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950"/>
              <a:buFont typeface="Arial"/>
              <a:buNone/>
              <a:defRPr b="1" i="0" sz="495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9pPr>
          </a:lstStyle>
          <a:p/>
        </p:txBody>
      </p:sp>
      <p:sp>
        <p:nvSpPr>
          <p:cNvPr id="21" name="Google Shape;21;p6"/>
          <p:cNvSpPr txBox="1"/>
          <p:nvPr>
            <p:ph idx="1" type="body"/>
          </p:nvPr>
        </p:nvSpPr>
        <p:spPr>
          <a:xfrm>
            <a:off x="1028700" y="2857500"/>
            <a:ext cx="7543800" cy="6400800"/>
          </a:xfrm>
          <a:prstGeom prst="rect">
            <a:avLst/>
          </a:prstGeom>
          <a:noFill/>
          <a:ln>
            <a:noFill/>
          </a:ln>
        </p:spPr>
        <p:txBody>
          <a:bodyPr anchorCtr="0" anchor="t" bIns="0" lIns="0" spcFirstLastPara="1" rIns="0" wrap="square" tIns="0">
            <a:normAutofit/>
          </a:bodyPr>
          <a:lstStyle>
            <a:lvl1pPr indent="-428625" lvl="0" marL="457200" marR="0" rtl="0" algn="l">
              <a:lnSpc>
                <a:spcPct val="110000"/>
              </a:lnSpc>
              <a:spcBef>
                <a:spcPts val="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1pPr>
            <a:lvl2pPr indent="-428625" lvl="1" marL="9144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2pPr>
            <a:lvl3pPr indent="-428625" lvl="2" marL="13716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3pPr>
            <a:lvl4pPr indent="-428625" lvl="3" marL="18288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4pPr>
            <a:lvl5pPr indent="-428625" lvl="4" marL="22860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5pPr>
            <a:lvl6pPr indent="-428625" lvl="5" marL="27432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6pPr>
            <a:lvl7pPr indent="-428625" lvl="6" marL="32004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7pPr>
            <a:lvl8pPr indent="-428625" lvl="7" marL="36576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8pPr>
            <a:lvl9pPr indent="-428625" lvl="8" marL="4114800" marR="0" rtl="0" algn="l">
              <a:lnSpc>
                <a:spcPct val="110000"/>
              </a:lnSpc>
              <a:spcBef>
                <a:spcPts val="1800"/>
              </a:spcBef>
              <a:spcAft>
                <a:spcPts val="1800"/>
              </a:spcAft>
              <a:buClr>
                <a:schemeClr val="dk1"/>
              </a:buClr>
              <a:buSzPts val="3150"/>
              <a:buFont typeface="Arial"/>
              <a:buChar char="•"/>
              <a:defRPr b="0" i="0" sz="315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9715500" y="2857500"/>
            <a:ext cx="7543800" cy="6400800"/>
          </a:xfrm>
          <a:prstGeom prst="rect">
            <a:avLst/>
          </a:prstGeom>
          <a:noFill/>
          <a:ln>
            <a:noFill/>
          </a:ln>
        </p:spPr>
        <p:txBody>
          <a:bodyPr anchorCtr="0" anchor="t" bIns="0" lIns="0" spcFirstLastPara="1" rIns="0" wrap="square" tIns="0">
            <a:normAutofit/>
          </a:bodyPr>
          <a:lstStyle>
            <a:lvl1pPr indent="-428625" lvl="0" marL="457200" marR="0" rtl="0" algn="l">
              <a:lnSpc>
                <a:spcPct val="110000"/>
              </a:lnSpc>
              <a:spcBef>
                <a:spcPts val="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1pPr>
            <a:lvl2pPr indent="-428625" lvl="1" marL="9144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2pPr>
            <a:lvl3pPr indent="-428625" lvl="2" marL="13716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3pPr>
            <a:lvl4pPr indent="-428625" lvl="3" marL="18288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4pPr>
            <a:lvl5pPr indent="-428625" lvl="4" marL="22860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5pPr>
            <a:lvl6pPr indent="-428625" lvl="5" marL="27432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6pPr>
            <a:lvl7pPr indent="-428625" lvl="6" marL="32004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7pPr>
            <a:lvl8pPr indent="-428625" lvl="7" marL="3657600" marR="0" rtl="0" algn="l">
              <a:lnSpc>
                <a:spcPct val="110000"/>
              </a:lnSpc>
              <a:spcBef>
                <a:spcPts val="1800"/>
              </a:spcBef>
              <a:spcAft>
                <a:spcPts val="0"/>
              </a:spcAft>
              <a:buClr>
                <a:schemeClr val="dk1"/>
              </a:buClr>
              <a:buSzPts val="3150"/>
              <a:buFont typeface="Arial"/>
              <a:buChar char="•"/>
              <a:defRPr b="0" i="0" sz="3150" u="none" cap="none" strike="noStrike">
                <a:solidFill>
                  <a:schemeClr val="dk1"/>
                </a:solidFill>
                <a:latin typeface="Arial"/>
                <a:ea typeface="Arial"/>
                <a:cs typeface="Arial"/>
                <a:sym typeface="Arial"/>
              </a:defRPr>
            </a:lvl8pPr>
            <a:lvl9pPr indent="-428625" lvl="8" marL="4114800" marR="0" rtl="0" algn="l">
              <a:lnSpc>
                <a:spcPct val="110000"/>
              </a:lnSpc>
              <a:spcBef>
                <a:spcPts val="1800"/>
              </a:spcBef>
              <a:spcAft>
                <a:spcPts val="1800"/>
              </a:spcAft>
              <a:buClr>
                <a:schemeClr val="dk1"/>
              </a:buClr>
              <a:buSzPts val="3150"/>
              <a:buFont typeface="Arial"/>
              <a:buChar char="•"/>
              <a:defRPr b="0" i="0" sz="31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1028700" y="800100"/>
            <a:ext cx="16230600" cy="12573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950"/>
              <a:buFont typeface="Arial"/>
              <a:buNone/>
              <a:defRPr b="1" i="0" sz="4950" u="none" cap="none" strike="noStrike">
                <a:solidFill>
                  <a:schemeClr val="dk1"/>
                </a:solidFill>
                <a:latin typeface="Arial"/>
                <a:ea typeface="Arial"/>
                <a:cs typeface="Arial"/>
                <a:sym typeface="Arial"/>
              </a:defRPr>
            </a:lvl1pPr>
            <a:lvl2pPr lvl="1"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2pPr>
            <a:lvl3pPr lvl="2"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3pPr>
            <a:lvl4pPr lvl="3"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4pPr>
            <a:lvl5pPr lvl="4"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5pPr>
            <a:lvl6pPr lvl="5"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6pPr>
            <a:lvl7pPr lvl="6"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7pPr>
            <a:lvl8pPr lvl="7"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8pPr>
            <a:lvl9pPr lvl="8" algn="l">
              <a:lnSpc>
                <a:spcPct val="110000"/>
              </a:lnSpc>
              <a:spcBef>
                <a:spcPts val="0"/>
              </a:spcBef>
              <a:spcAft>
                <a:spcPts val="0"/>
              </a:spcAft>
              <a:buClr>
                <a:schemeClr val="dk1"/>
              </a:buClr>
              <a:buSzPts val="4950"/>
              <a:buFont typeface="Arial"/>
              <a:buNone/>
              <a:defRPr b="1" sz="4950">
                <a:solidFill>
                  <a:schemeClr val="dk1"/>
                </a:solidFill>
                <a:latin typeface="Arial"/>
                <a:ea typeface="Arial"/>
                <a:cs typeface="Arial"/>
                <a:sym typeface="Arial"/>
              </a:defRPr>
            </a:lvl9pPr>
          </a:lstStyle>
          <a:p/>
        </p:txBody>
      </p:sp>
      <p:sp>
        <p:nvSpPr>
          <p:cNvPr id="25" name="Google Shape;25;p7"/>
          <p:cNvSpPr txBox="1"/>
          <p:nvPr>
            <p:ph idx="1" type="body"/>
          </p:nvPr>
        </p:nvSpPr>
        <p:spPr>
          <a:xfrm>
            <a:off x="1028700" y="2857500"/>
            <a:ext cx="7543800" cy="6400800"/>
          </a:xfrm>
          <a:prstGeom prst="rect">
            <a:avLst/>
          </a:prstGeom>
          <a:noFill/>
          <a:ln>
            <a:noFill/>
          </a:ln>
        </p:spPr>
        <p:txBody>
          <a:bodyPr anchorCtr="0" anchor="t" bIns="0" lIns="0" spcFirstLastPara="1" rIns="0" wrap="square" tIns="0">
            <a:normAutofit/>
          </a:bodyPr>
          <a:lstStyle>
            <a:lvl1pPr indent="-442913" lvl="0" marL="457200" marR="0" rtl="0" algn="l">
              <a:lnSpc>
                <a:spcPct val="110000"/>
              </a:lnSpc>
              <a:spcBef>
                <a:spcPts val="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1pPr>
            <a:lvl2pPr indent="-442913" lvl="1" marL="9144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2pPr>
            <a:lvl3pPr indent="-442913" lvl="2" marL="13716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3pPr>
            <a:lvl4pPr indent="-442913" lvl="3" marL="18288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4pPr>
            <a:lvl5pPr indent="-442913" lvl="4" marL="22860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5pPr>
            <a:lvl6pPr indent="-442913" lvl="5" marL="27432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6pPr>
            <a:lvl7pPr indent="-442913" lvl="6" marL="32004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7pPr>
            <a:lvl8pPr indent="-442913" lvl="7" marL="3657600" marR="0" rtl="0" algn="l">
              <a:lnSpc>
                <a:spcPct val="110000"/>
              </a:lnSpc>
              <a:spcBef>
                <a:spcPts val="1800"/>
              </a:spcBef>
              <a:spcAft>
                <a:spcPts val="0"/>
              </a:spcAft>
              <a:buClr>
                <a:schemeClr val="dk1"/>
              </a:buClr>
              <a:buSzPts val="3375"/>
              <a:buFont typeface="Arial"/>
              <a:buChar char="•"/>
              <a:defRPr b="0" i="0" sz="3375" u="none" cap="none" strike="noStrike">
                <a:solidFill>
                  <a:schemeClr val="dk1"/>
                </a:solidFill>
                <a:latin typeface="Arial"/>
                <a:ea typeface="Arial"/>
                <a:cs typeface="Arial"/>
                <a:sym typeface="Arial"/>
              </a:defRPr>
            </a:lvl8pPr>
            <a:lvl9pPr indent="-442913" lvl="8" marL="4114800" marR="0" rtl="0" algn="l">
              <a:lnSpc>
                <a:spcPct val="110000"/>
              </a:lnSpc>
              <a:spcBef>
                <a:spcPts val="1800"/>
              </a:spcBef>
              <a:spcAft>
                <a:spcPts val="1800"/>
              </a:spcAft>
              <a:buClr>
                <a:schemeClr val="dk1"/>
              </a:buClr>
              <a:buSzPts val="3375"/>
              <a:buFont typeface="Arial"/>
              <a:buChar char="•"/>
              <a:defRPr b="0" i="0" sz="3375"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35.png"/><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8.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0" name="Shape 30"/>
        <p:cNvGrpSpPr/>
        <p:nvPr/>
      </p:nvGrpSpPr>
      <p:grpSpPr>
        <a:xfrm>
          <a:off x="0" y="0"/>
          <a:ext cx="0" cy="0"/>
          <a:chOff x="0" y="0"/>
          <a:chExt cx="0" cy="0"/>
        </a:xfrm>
      </p:grpSpPr>
      <p:sp>
        <p:nvSpPr>
          <p:cNvPr id="31" name="Google Shape;31;p8"/>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800"/>
              <a:buFont typeface="Open Sans"/>
              <a:buNone/>
            </a:pPr>
            <a:r>
              <a:rPr b="1" lang="en-US" sz="4800">
                <a:solidFill>
                  <a:srgbClr val="FFFFFF"/>
                </a:solidFill>
                <a:latin typeface="Open Sans"/>
                <a:ea typeface="Open Sans"/>
                <a:cs typeface="Open Sans"/>
                <a:sym typeface="Open Sans"/>
              </a:rPr>
              <a:t>Projeto 3</a:t>
            </a:r>
            <a:endParaRPr/>
          </a:p>
        </p:txBody>
      </p:sp>
      <p:sp>
        <p:nvSpPr>
          <p:cNvPr id="32" name="Google Shape;32;p8"/>
          <p:cNvSpPr/>
          <p:nvPr/>
        </p:nvSpPr>
        <p:spPr>
          <a:xfrm>
            <a:off x="1714500" y="3333750"/>
            <a:ext cx="14859000" cy="762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11111"/>
              </a:buClr>
              <a:buSzPts val="2700"/>
              <a:buFont typeface="Open Sans"/>
              <a:buNone/>
            </a:pPr>
            <a:r>
              <a:rPr lang="en-US" sz="2700">
                <a:solidFill>
                  <a:srgbClr val="111111"/>
                </a:solidFill>
                <a:latin typeface="Open Sans"/>
                <a:ea typeface="Open Sans"/>
                <a:cs typeface="Open Sans"/>
                <a:sym typeface="Open Sans"/>
              </a:rPr>
              <a:t>C</a:t>
            </a:r>
            <a:r>
              <a:rPr b="0" lang="en-US" sz="2700">
                <a:solidFill>
                  <a:srgbClr val="111111"/>
                </a:solidFill>
                <a:latin typeface="Open Sans"/>
                <a:ea typeface="Open Sans"/>
                <a:cs typeface="Open Sans"/>
                <a:sym typeface="Open Sans"/>
              </a:rPr>
              <a:t>ontrolador de BIAS para MZM</a:t>
            </a:r>
            <a:endParaRPr/>
          </a:p>
        </p:txBody>
      </p:sp>
      <p:sp>
        <p:nvSpPr>
          <p:cNvPr id="33" name="Google Shape;33;p8"/>
          <p:cNvSpPr/>
          <p:nvPr/>
        </p:nvSpPr>
        <p:spPr>
          <a:xfrm>
            <a:off x="1714500" y="4619625"/>
            <a:ext cx="6191250" cy="171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25"/>
              <a:buFont typeface="Open Sans"/>
              <a:buNone/>
            </a:pPr>
            <a:r>
              <a:rPr b="0" lang="en-US" sz="2325">
                <a:solidFill>
                  <a:srgbClr val="111111"/>
                </a:solidFill>
                <a:latin typeface="Open Sans"/>
                <a:ea typeface="Open Sans"/>
                <a:cs typeface="Open Sans"/>
                <a:sym typeface="Open Sans"/>
              </a:rPr>
              <a:t>Carlos Renan Correia Fidelis</a:t>
            </a:r>
            <a:endParaRPr/>
          </a:p>
          <a:p>
            <a:pPr indent="0" lvl="0" marL="0" marR="0" rtl="0" algn="l">
              <a:spcBef>
                <a:spcPts val="0"/>
              </a:spcBef>
              <a:spcAft>
                <a:spcPts val="0"/>
              </a:spcAft>
              <a:buClr>
                <a:srgbClr val="111111"/>
              </a:buClr>
              <a:buSzPts val="2325"/>
              <a:buFont typeface="Open Sans"/>
              <a:buNone/>
            </a:pPr>
            <a:r>
              <a:rPr b="0" lang="en-US" sz="2325">
                <a:solidFill>
                  <a:srgbClr val="111111"/>
                </a:solidFill>
                <a:latin typeface="Open Sans"/>
                <a:ea typeface="Open Sans"/>
                <a:cs typeface="Open Sans"/>
                <a:sym typeface="Open Sans"/>
              </a:rPr>
              <a:t>Carlos Elias Fialho de Lima</a:t>
            </a:r>
            <a:endParaRPr/>
          </a:p>
          <a:p>
            <a:pPr indent="0" lvl="0" marL="0" marR="0" rtl="0" algn="l">
              <a:spcBef>
                <a:spcPts val="0"/>
              </a:spcBef>
              <a:spcAft>
                <a:spcPts val="0"/>
              </a:spcAft>
              <a:buClr>
                <a:srgbClr val="111111"/>
              </a:buClr>
              <a:buSzPts val="2325"/>
              <a:buFont typeface="Open Sans"/>
              <a:buNone/>
            </a:pPr>
            <a:r>
              <a:rPr b="0" lang="en-US" sz="2325">
                <a:solidFill>
                  <a:srgbClr val="111111"/>
                </a:solidFill>
                <a:latin typeface="Open Sans"/>
                <a:ea typeface="Open Sans"/>
                <a:cs typeface="Open Sans"/>
                <a:sym typeface="Open Sans"/>
              </a:rPr>
              <a:t>Pablo Daniel Nascimento Vieira</a:t>
            </a:r>
            <a:endParaRPr/>
          </a:p>
        </p:txBody>
      </p:sp>
      <p:pic>
        <p:nvPicPr>
          <p:cNvPr id="34" name="Google Shape;34;p8"/>
          <p:cNvPicPr preferRelativeResize="0"/>
          <p:nvPr/>
        </p:nvPicPr>
        <p:blipFill rotWithShape="1">
          <a:blip r:embed="rId3">
            <a:alphaModFix/>
          </a:blip>
          <a:srcRect b="7000" l="6000" r="6000" t="14000"/>
          <a:stretch/>
        </p:blipFill>
        <p:spPr>
          <a:xfrm>
            <a:off x="7810500" y="4048125"/>
            <a:ext cx="9906000" cy="5238750"/>
          </a:xfrm>
          <a:prstGeom prst="rect">
            <a:avLst/>
          </a:prstGeom>
          <a:noFill/>
          <a:ln>
            <a:noFill/>
          </a:ln>
        </p:spPr>
      </p:pic>
      <p:sp>
        <p:nvSpPr>
          <p:cNvPr id="35" name="Google Shape;35;p8"/>
          <p:cNvSpPr/>
          <p:nvPr/>
        </p:nvSpPr>
        <p:spPr>
          <a:xfrm>
            <a:off x="1714500" y="2381250"/>
            <a:ext cx="14859000" cy="857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11111"/>
              </a:buClr>
              <a:buSzPts val="2400"/>
              <a:buFont typeface="Open Sans"/>
              <a:buNone/>
            </a:pPr>
            <a:r>
              <a:rPr b="0" lang="en-US" sz="2400">
                <a:solidFill>
                  <a:srgbClr val="111111"/>
                </a:solidFill>
                <a:latin typeface="Open Sans"/>
                <a:ea typeface="Open Sans"/>
                <a:cs typeface="Open Sans"/>
                <a:sym typeface="Open Sans"/>
              </a:rPr>
              <a:t>Universidade Federal de Campina Grande - UFCG</a:t>
            </a:r>
            <a:endParaRPr/>
          </a:p>
          <a:p>
            <a:pPr indent="0" lvl="0" marL="0" marR="0" rtl="0" algn="ctr">
              <a:spcBef>
                <a:spcPts val="0"/>
              </a:spcBef>
              <a:spcAft>
                <a:spcPts val="0"/>
              </a:spcAft>
              <a:buClr>
                <a:srgbClr val="111111"/>
              </a:buClr>
              <a:buSzPts val="2400"/>
              <a:buFont typeface="Open Sans"/>
              <a:buNone/>
            </a:pPr>
            <a:r>
              <a:rPr b="0" lang="en-US" sz="2400">
                <a:solidFill>
                  <a:srgbClr val="111111"/>
                </a:solidFill>
                <a:latin typeface="Open Sans"/>
                <a:ea typeface="Open Sans"/>
                <a:cs typeface="Open Sans"/>
                <a:sym typeface="Open Sans"/>
              </a:rPr>
              <a:t>Departamento de Engenharia Elétrica - DEE</a:t>
            </a:r>
            <a:endParaRPr/>
          </a:p>
        </p:txBody>
      </p:sp>
      <p:sp>
        <p:nvSpPr>
          <p:cNvPr id="36" name="Google Shape;36;p8"/>
          <p:cNvSpPr/>
          <p:nvPr/>
        </p:nvSpPr>
        <p:spPr>
          <a:xfrm>
            <a:off x="1714500" y="6715125"/>
            <a:ext cx="6191250" cy="1619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t/>
            </a:r>
            <a:endParaRPr/>
          </a:p>
        </p:txBody>
      </p:sp>
      <p:sp>
        <p:nvSpPr>
          <p:cNvPr id="37" name="Google Shape;37;p8"/>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1/26</a:t>
            </a:r>
            <a:endParaRPr/>
          </a:p>
        </p:txBody>
      </p:sp>
      <p:pic>
        <p:nvPicPr>
          <p:cNvPr id="38" name="Google Shape;38;p8"/>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43" name="Shape 43"/>
        <p:cNvGrpSpPr/>
        <p:nvPr/>
      </p:nvGrpSpPr>
      <p:grpSpPr>
        <a:xfrm>
          <a:off x="0" y="0"/>
          <a:ext cx="0" cy="0"/>
          <a:chOff x="0" y="0"/>
          <a:chExt cx="0" cy="0"/>
        </a:xfrm>
      </p:grpSpPr>
      <p:sp>
        <p:nvSpPr>
          <p:cNvPr id="44" name="Google Shape;44;p9"/>
          <p:cNvSpPr/>
          <p:nvPr/>
        </p:nvSpPr>
        <p:spPr>
          <a:xfrm>
            <a:off x="3674745" y="3147894"/>
            <a:ext cx="10938510" cy="5624939"/>
          </a:xfrm>
          <a:prstGeom prst="roundRect">
            <a:avLst>
              <a:gd fmla="val 2709"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Função da placa na bancada óptica</a:t>
            </a:r>
            <a:endParaRPr/>
          </a:p>
        </p:txBody>
      </p:sp>
      <p:sp>
        <p:nvSpPr>
          <p:cNvPr id="46" name="Google Shape;46;p9"/>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placa observa o monitor óptico e fornece o BIAS que ajusta o modulador.</a:t>
            </a:r>
            <a:endParaRPr/>
          </a:p>
        </p:txBody>
      </p:sp>
      <p:pic>
        <p:nvPicPr>
          <p:cNvPr id="47" name="Google Shape;47;p9"/>
          <p:cNvPicPr preferRelativeResize="0"/>
          <p:nvPr/>
        </p:nvPicPr>
        <p:blipFill rotWithShape="1">
          <a:blip r:embed="rId3">
            <a:alphaModFix/>
          </a:blip>
          <a:srcRect b="0" l="0" r="0" t="0"/>
          <a:stretch/>
        </p:blipFill>
        <p:spPr>
          <a:xfrm>
            <a:off x="3750945" y="3224094"/>
            <a:ext cx="10786110" cy="5472539"/>
          </a:xfrm>
          <a:prstGeom prst="rect">
            <a:avLst/>
          </a:prstGeom>
          <a:noFill/>
          <a:ln>
            <a:noFill/>
          </a:ln>
        </p:spPr>
      </p:pic>
      <p:sp>
        <p:nvSpPr>
          <p:cNvPr id="48" name="Google Shape;48;p9"/>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2/26</a:t>
            </a:r>
            <a:endParaRPr/>
          </a:p>
        </p:txBody>
      </p:sp>
      <p:pic>
        <p:nvPicPr>
          <p:cNvPr id="49" name="Google Shape;49;p9"/>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54" name="Shape 54"/>
        <p:cNvGrpSpPr/>
        <p:nvPr/>
      </p:nvGrpSpPr>
      <p:grpSpPr>
        <a:xfrm>
          <a:off x="0" y="0"/>
          <a:ext cx="0" cy="0"/>
          <a:chOff x="0" y="0"/>
          <a:chExt cx="0" cy="0"/>
        </a:xfrm>
      </p:grpSpPr>
      <p:sp>
        <p:nvSpPr>
          <p:cNvPr id="55" name="Google Shape;55;p10"/>
          <p:cNvSpPr/>
          <p:nvPr/>
        </p:nvSpPr>
        <p:spPr>
          <a:xfrm>
            <a:off x="3521140" y="3249168"/>
            <a:ext cx="11245720" cy="4411980"/>
          </a:xfrm>
          <a:prstGeom prst="roundRect">
            <a:avLst>
              <a:gd fmla="val 3454"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BIAS e ponto de operação do MZM</a:t>
            </a:r>
            <a:endParaRPr/>
          </a:p>
        </p:txBody>
      </p:sp>
      <p:sp>
        <p:nvSpPr>
          <p:cNvPr id="57" name="Google Shape;57;p10"/>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polarização elétrica desloca o ponto de funcionamento do modulador.</a:t>
            </a:r>
            <a:endParaRPr/>
          </a:p>
        </p:txBody>
      </p:sp>
      <p:pic>
        <p:nvPicPr>
          <p:cNvPr id="58" name="Google Shape;58;p10"/>
          <p:cNvPicPr preferRelativeResize="0"/>
          <p:nvPr/>
        </p:nvPicPr>
        <p:blipFill rotWithShape="1">
          <a:blip r:embed="rId3">
            <a:alphaModFix/>
          </a:blip>
          <a:srcRect b="0" l="0" r="0" t="0"/>
          <a:stretch/>
        </p:blipFill>
        <p:spPr>
          <a:xfrm>
            <a:off x="3597340" y="3325368"/>
            <a:ext cx="11093320" cy="4259580"/>
          </a:xfrm>
          <a:prstGeom prst="rect">
            <a:avLst/>
          </a:prstGeom>
          <a:noFill/>
          <a:ln>
            <a:noFill/>
          </a:ln>
        </p:spPr>
      </p:pic>
      <p:sp>
        <p:nvSpPr>
          <p:cNvPr id="59" name="Google Shape;59;p10"/>
          <p:cNvSpPr/>
          <p:nvPr/>
        </p:nvSpPr>
        <p:spPr>
          <a:xfrm>
            <a:off x="1047750" y="7871460"/>
            <a:ext cx="749987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Efeito do BIAS</a:t>
            </a:r>
            <a:endParaRPr/>
          </a:p>
        </p:txBody>
      </p:sp>
      <p:sp>
        <p:nvSpPr>
          <p:cNvPr id="60" name="Google Shape;60;p10"/>
          <p:cNvSpPr/>
          <p:nvPr/>
        </p:nvSpPr>
        <p:spPr>
          <a:xfrm>
            <a:off x="1047750" y="8313039"/>
            <a:ext cx="7499874" cy="6225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A tensão altera a diferença de fase entre os braços e a intensidade da luz na saída.</a:t>
            </a:r>
            <a:endParaRPr/>
          </a:p>
        </p:txBody>
      </p:sp>
      <p:sp>
        <p:nvSpPr>
          <p:cNvPr id="61" name="Google Shape;61;p10"/>
          <p:cNvSpPr/>
          <p:nvPr/>
        </p:nvSpPr>
        <p:spPr>
          <a:xfrm>
            <a:off x="9505440" y="7871460"/>
            <a:ext cx="759023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Leitura da curva</a:t>
            </a:r>
            <a:endParaRPr/>
          </a:p>
        </p:txBody>
      </p:sp>
      <p:sp>
        <p:nvSpPr>
          <p:cNvPr id="62" name="Google Shape;62;p10"/>
          <p:cNvSpPr/>
          <p:nvPr/>
        </p:nvSpPr>
        <p:spPr>
          <a:xfrm>
            <a:off x="9505440" y="8313039"/>
            <a:ext cx="7590234" cy="6225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Quadratura corresponde à metade da transmissão máxima neste modelo ideal.</a:t>
            </a:r>
            <a:endParaRPr/>
          </a:p>
        </p:txBody>
      </p:sp>
      <p:sp>
        <p:nvSpPr>
          <p:cNvPr id="63" name="Google Shape;63;p10"/>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3/26</a:t>
            </a:r>
            <a:endParaRPr/>
          </a:p>
        </p:txBody>
      </p:sp>
      <p:pic>
        <p:nvPicPr>
          <p:cNvPr id="64" name="Google Shape;64;p10"/>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69" name="Shape 69"/>
        <p:cNvGrpSpPr/>
        <p:nvPr/>
      </p:nvGrpSpPr>
      <p:grpSpPr>
        <a:xfrm>
          <a:off x="0" y="0"/>
          <a:ext cx="0" cy="0"/>
          <a:chOff x="0" y="0"/>
          <a:chExt cx="0" cy="0"/>
        </a:xfrm>
      </p:grpSpPr>
      <p:sp>
        <p:nvSpPr>
          <p:cNvPr id="70" name="Google Shape;70;p11"/>
          <p:cNvSpPr/>
          <p:nvPr/>
        </p:nvSpPr>
        <p:spPr>
          <a:xfrm>
            <a:off x="1968881" y="3379470"/>
            <a:ext cx="8187690" cy="5509260"/>
          </a:xfrm>
          <a:prstGeom prst="roundRect">
            <a:avLst>
              <a:gd fmla="val 2766"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Mapa das interfaces da placa</a:t>
            </a:r>
            <a:endParaRPr/>
          </a:p>
        </p:txBody>
      </p:sp>
      <p:sp>
        <p:nvSpPr>
          <p:cNvPr id="72" name="Google Shape;72;p11"/>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identificação J indica um conector. O número permite localizá-lo no esquemático e no layout.</a:t>
            </a:r>
            <a:endParaRPr/>
          </a:p>
        </p:txBody>
      </p:sp>
      <p:pic>
        <p:nvPicPr>
          <p:cNvPr id="73" name="Google Shape;73;p11"/>
          <p:cNvPicPr preferRelativeResize="0"/>
          <p:nvPr/>
        </p:nvPicPr>
        <p:blipFill rotWithShape="1">
          <a:blip r:embed="rId3">
            <a:alphaModFix/>
          </a:blip>
          <a:srcRect b="0" l="0" r="0" t="0"/>
          <a:stretch/>
        </p:blipFill>
        <p:spPr>
          <a:xfrm>
            <a:off x="2045081" y="3455670"/>
            <a:ext cx="8035290" cy="5356860"/>
          </a:xfrm>
          <a:prstGeom prst="rect">
            <a:avLst/>
          </a:prstGeom>
          <a:noFill/>
          <a:ln>
            <a:noFill/>
          </a:ln>
        </p:spPr>
      </p:pic>
      <p:graphicFrame>
        <p:nvGraphicFramePr>
          <p:cNvPr id="74" name="Google Shape;74;p11"/>
          <p:cNvGraphicFramePr/>
          <p:nvPr/>
        </p:nvGraphicFramePr>
        <p:xfrm>
          <a:off x="11439142" y="3528060"/>
          <a:ext cx="3000000" cy="3000000"/>
        </p:xfrm>
        <a:graphic>
          <a:graphicData uri="http://schemas.openxmlformats.org/drawingml/2006/table">
            <a:tbl>
              <a:tblPr>
                <a:noFill/>
                <a:tableStyleId>{AB66B845-1EDC-43A2-866E-C6FA973C604C}</a:tableStyleId>
              </a:tblPr>
              <a:tblGrid>
                <a:gridCol w="2168650"/>
                <a:gridCol w="3632475"/>
              </a:tblGrid>
              <a:tr h="570075">
                <a:tc>
                  <a:txBody>
                    <a:bodyPr/>
                    <a:lstStyle/>
                    <a:p>
                      <a:pPr indent="0" lvl="0" marL="0" marR="0" rtl="0" algn="l">
                        <a:spcBef>
                          <a:spcPts val="0"/>
                        </a:spcBef>
                        <a:spcAft>
                          <a:spcPts val="0"/>
                        </a:spcAft>
                        <a:buClr>
                          <a:srgbClr val="FFFFFF"/>
                        </a:buClr>
                        <a:buSzPts val="1914"/>
                        <a:buFont typeface="Open Sans"/>
                        <a:buNone/>
                      </a:pPr>
                      <a:r>
                        <a:rPr b="1" lang="en-US" sz="1914" u="none" cap="none" strike="noStrike">
                          <a:solidFill>
                            <a:srgbClr val="FFFFFF"/>
                          </a:solidFill>
                          <a:latin typeface="Open Sans"/>
                          <a:ea typeface="Open Sans"/>
                          <a:cs typeface="Open Sans"/>
                          <a:sym typeface="Open Sans"/>
                        </a:rPr>
                        <a:t>Conector</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14"/>
                        <a:buFont typeface="Open Sans"/>
                        <a:buNone/>
                      </a:pPr>
                      <a:r>
                        <a:rPr b="1" lang="en-US" sz="1914">
                          <a:solidFill>
                            <a:srgbClr val="FFFFFF"/>
                          </a:solidFill>
                          <a:latin typeface="Open Sans"/>
                          <a:ea typeface="Open Sans"/>
                          <a:cs typeface="Open Sans"/>
                          <a:sym typeface="Open Sans"/>
                        </a:rPr>
                        <a:t>Ligação principal</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J100 / J101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Encaixe do CM5</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J200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Fonte de 15 V</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J500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Fotodiodo externo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J700 / J800 / J900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BIAS I, Q e PHI</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J102</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USB-C do CM5</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J103</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Expansão I²C</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70075">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J104</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Ventilador de 5 V</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75" name="Google Shape;75;p11"/>
          <p:cNvSpPr/>
          <p:nvPr/>
        </p:nvSpPr>
        <p:spPr>
          <a:xfrm>
            <a:off x="11439142" y="8320278"/>
            <a:ext cx="5801108" cy="3981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1" lang="en-US" sz="2046">
                <a:solidFill>
                  <a:srgbClr val="111111"/>
                </a:solidFill>
                <a:latin typeface="Open Sans"/>
                <a:ea typeface="Open Sans"/>
                <a:cs typeface="Open Sans"/>
                <a:sym typeface="Open Sans"/>
              </a:rPr>
              <a:t>Placa-base: 180 mm × 120 mm</a:t>
            </a:r>
            <a:endParaRPr/>
          </a:p>
        </p:txBody>
      </p:sp>
      <p:sp>
        <p:nvSpPr>
          <p:cNvPr id="76" name="Google Shape;76;p11"/>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77" name="Google Shape;77;p11"/>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4/26</a:t>
            </a:r>
            <a:endParaRPr/>
          </a:p>
        </p:txBody>
      </p:sp>
      <p:pic>
        <p:nvPicPr>
          <p:cNvPr id="78" name="Google Shape;78;p11"/>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83" name="Shape 83"/>
        <p:cNvGrpSpPr/>
        <p:nvPr/>
      </p:nvGrpSpPr>
      <p:grpSpPr>
        <a:xfrm>
          <a:off x="0" y="0"/>
          <a:ext cx="0" cy="0"/>
          <a:chOff x="0" y="0"/>
          <a:chExt cx="0" cy="0"/>
        </a:xfrm>
      </p:grpSpPr>
      <p:sp>
        <p:nvSpPr>
          <p:cNvPr id="84" name="Google Shape;84;p12"/>
          <p:cNvSpPr/>
          <p:nvPr/>
        </p:nvSpPr>
        <p:spPr>
          <a:xfrm>
            <a:off x="2013806" y="3237875"/>
            <a:ext cx="8549640" cy="5517295"/>
          </a:xfrm>
          <a:prstGeom prst="roundRect">
            <a:avLst>
              <a:gd fmla="val 2762"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2"/>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Encaixe do Compute Module 5</a:t>
            </a:r>
            <a:endParaRPr/>
          </a:p>
        </p:txBody>
      </p:sp>
      <p:sp>
        <p:nvSpPr>
          <p:cNvPr id="86" name="Google Shape;86;p12"/>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J100 e J101 fazem a conexão elétrica do módulo com a placa-base.</a:t>
            </a:r>
            <a:endParaRPr/>
          </a:p>
        </p:txBody>
      </p:sp>
      <p:pic>
        <p:nvPicPr>
          <p:cNvPr id="87" name="Google Shape;87;p12"/>
          <p:cNvPicPr preferRelativeResize="0"/>
          <p:nvPr/>
        </p:nvPicPr>
        <p:blipFill rotWithShape="1">
          <a:blip r:embed="rId3">
            <a:alphaModFix/>
          </a:blip>
          <a:srcRect b="0" l="0" r="0" t="0"/>
          <a:stretch/>
        </p:blipFill>
        <p:spPr>
          <a:xfrm>
            <a:off x="2090006" y="3314075"/>
            <a:ext cx="8397240" cy="5364895"/>
          </a:xfrm>
          <a:prstGeom prst="rect">
            <a:avLst/>
          </a:prstGeom>
          <a:noFill/>
          <a:ln>
            <a:noFill/>
          </a:ln>
        </p:spPr>
      </p:pic>
      <p:sp>
        <p:nvSpPr>
          <p:cNvPr id="88" name="Google Shape;88;p12"/>
          <p:cNvSpPr/>
          <p:nvPr/>
        </p:nvSpPr>
        <p:spPr>
          <a:xfrm>
            <a:off x="12035518" y="3383280"/>
            <a:ext cx="520473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Dois conectores</a:t>
            </a:r>
            <a:endParaRPr/>
          </a:p>
        </p:txBody>
      </p:sp>
      <p:sp>
        <p:nvSpPr>
          <p:cNvPr id="89" name="Google Shape;89;p12"/>
          <p:cNvSpPr/>
          <p:nvPr/>
        </p:nvSpPr>
        <p:spPr>
          <a:xfrm>
            <a:off x="12035518" y="3824859"/>
            <a:ext cx="5204732" cy="113652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Cada conector possui 100 contatos. O módulo se encaixa paralelo à base.</a:t>
            </a:r>
            <a:endParaRPr/>
          </a:p>
        </p:txBody>
      </p:sp>
      <p:sp>
        <p:nvSpPr>
          <p:cNvPr id="90" name="Google Shape;90;p12"/>
          <p:cNvSpPr/>
          <p:nvPr/>
        </p:nvSpPr>
        <p:spPr>
          <a:xfrm>
            <a:off x="12035518" y="5156835"/>
            <a:ext cx="520473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Fixação e altura</a:t>
            </a:r>
            <a:endParaRPr/>
          </a:p>
        </p:txBody>
      </p:sp>
      <p:sp>
        <p:nvSpPr>
          <p:cNvPr id="91" name="Google Shape;91;p12"/>
          <p:cNvSpPr/>
          <p:nvPr/>
        </p:nvSpPr>
        <p:spPr>
          <a:xfrm>
            <a:off x="12035518" y="5598414"/>
            <a:ext cx="5204732" cy="134645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Quatro pontos M2,5 sustentam o conjunto. A separação nominal entre PCBs é de 4,0 mm.</a:t>
            </a:r>
            <a:endParaRPr/>
          </a:p>
        </p:txBody>
      </p:sp>
      <p:sp>
        <p:nvSpPr>
          <p:cNvPr id="92" name="Google Shape;92;p12"/>
          <p:cNvSpPr/>
          <p:nvPr/>
        </p:nvSpPr>
        <p:spPr>
          <a:xfrm>
            <a:off x="12035518" y="7328535"/>
            <a:ext cx="5204732"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0" lang="en-US" sz="2046">
                <a:solidFill>
                  <a:srgbClr val="111111"/>
                </a:solidFill>
                <a:latin typeface="Open Sans"/>
                <a:ea typeface="Open Sans"/>
                <a:cs typeface="Open Sans"/>
                <a:sym typeface="Open Sans"/>
              </a:rPr>
              <a:t>O afastamento da vista explodida serve apenas para mostrar o encaixe.</a:t>
            </a:r>
            <a:endParaRPr/>
          </a:p>
        </p:txBody>
      </p:sp>
      <p:sp>
        <p:nvSpPr>
          <p:cNvPr id="93" name="Google Shape;93;p12"/>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5/26</a:t>
            </a:r>
            <a:endParaRPr/>
          </a:p>
        </p:txBody>
      </p:sp>
      <p:pic>
        <p:nvPicPr>
          <p:cNvPr id="94" name="Google Shape;94;p12"/>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99" name="Shape 99"/>
        <p:cNvGrpSpPr/>
        <p:nvPr/>
      </p:nvGrpSpPr>
      <p:grpSpPr>
        <a:xfrm>
          <a:off x="0" y="0"/>
          <a:ext cx="0" cy="0"/>
          <a:chOff x="0" y="0"/>
          <a:chExt cx="0" cy="0"/>
        </a:xfrm>
      </p:grpSpPr>
      <p:sp>
        <p:nvSpPr>
          <p:cNvPr id="100" name="Google Shape;100;p13"/>
          <p:cNvSpPr/>
          <p:nvPr/>
        </p:nvSpPr>
        <p:spPr>
          <a:xfrm>
            <a:off x="4827565" y="3133344"/>
            <a:ext cx="8632961" cy="5089398"/>
          </a:xfrm>
          <a:prstGeom prst="roundRect">
            <a:avLst>
              <a:gd fmla="val 2994"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Funções do CM5 e do RP2040</a:t>
            </a:r>
            <a:endParaRPr/>
          </a:p>
        </p:txBody>
      </p:sp>
      <p:sp>
        <p:nvSpPr>
          <p:cNvPr id="102" name="Google Shape;102;p13"/>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CM5 supervisiona o experimento. O Pico organiza a aquisição e a atuação local.</a:t>
            </a:r>
            <a:endParaRPr/>
          </a:p>
        </p:txBody>
      </p:sp>
      <p:pic>
        <p:nvPicPr>
          <p:cNvPr id="103" name="Google Shape;103;p13"/>
          <p:cNvPicPr preferRelativeResize="0"/>
          <p:nvPr/>
        </p:nvPicPr>
        <p:blipFill rotWithShape="1">
          <a:blip r:embed="rId3">
            <a:alphaModFix/>
          </a:blip>
          <a:srcRect b="0" l="0" r="0" t="0"/>
          <a:stretch/>
        </p:blipFill>
        <p:spPr>
          <a:xfrm>
            <a:off x="4903765" y="3209544"/>
            <a:ext cx="8480561" cy="4936998"/>
          </a:xfrm>
          <a:prstGeom prst="rect">
            <a:avLst/>
          </a:prstGeom>
          <a:noFill/>
          <a:ln>
            <a:noFill/>
          </a:ln>
        </p:spPr>
      </p:pic>
      <p:sp>
        <p:nvSpPr>
          <p:cNvPr id="104" name="Google Shape;104;p13"/>
          <p:cNvSpPr/>
          <p:nvPr/>
        </p:nvSpPr>
        <p:spPr>
          <a:xfrm>
            <a:off x="1192326" y="8291322"/>
            <a:ext cx="15903348" cy="44881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0" lang="en-US" sz="2112">
                <a:solidFill>
                  <a:srgbClr val="111111"/>
                </a:solidFill>
                <a:latin typeface="Open Sans"/>
                <a:ea typeface="Open Sans"/>
                <a:cs typeface="Open Sans"/>
                <a:sym typeface="Open Sans"/>
              </a:rPr>
              <a:t>UART: troca de mensagens entre os módulos. SPI: comunicação do Pico com o ADC e o DAC.</a:t>
            </a:r>
            <a:endParaRPr/>
          </a:p>
        </p:txBody>
      </p:sp>
      <p:sp>
        <p:nvSpPr>
          <p:cNvPr id="105" name="Google Shape;105;p13"/>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06" name="Google Shape;106;p13"/>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6/26</a:t>
            </a:r>
            <a:endParaRPr/>
          </a:p>
        </p:txBody>
      </p:sp>
      <p:pic>
        <p:nvPicPr>
          <p:cNvPr id="107" name="Google Shape;107;p13"/>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12" name="Shape 112"/>
        <p:cNvGrpSpPr/>
        <p:nvPr/>
      </p:nvGrpSpPr>
      <p:grpSpPr>
        <a:xfrm>
          <a:off x="0" y="0"/>
          <a:ext cx="0" cy="0"/>
          <a:chOff x="0" y="0"/>
          <a:chExt cx="0" cy="0"/>
        </a:xfrm>
      </p:grpSpPr>
      <p:sp>
        <p:nvSpPr>
          <p:cNvPr id="113" name="Google Shape;113;p14"/>
          <p:cNvSpPr/>
          <p:nvPr/>
        </p:nvSpPr>
        <p:spPr>
          <a:xfrm>
            <a:off x="2283284" y="3126105"/>
            <a:ext cx="7784695" cy="5690235"/>
          </a:xfrm>
          <a:prstGeom prst="roundRect">
            <a:avLst>
              <a:gd fmla="val 2678"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Alimentação a partir de 15 V</a:t>
            </a:r>
            <a:endParaRPr/>
          </a:p>
        </p:txBody>
      </p:sp>
      <p:sp>
        <p:nvSpPr>
          <p:cNvPr id="115" name="Google Shape;115;p14"/>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J200 recebe a energia. Os conversores e reguladores produzem os demais ramos.</a:t>
            </a:r>
            <a:endParaRPr/>
          </a:p>
        </p:txBody>
      </p:sp>
      <p:pic>
        <p:nvPicPr>
          <p:cNvPr id="116" name="Google Shape;116;p14"/>
          <p:cNvPicPr preferRelativeResize="0"/>
          <p:nvPr/>
        </p:nvPicPr>
        <p:blipFill rotWithShape="1">
          <a:blip r:embed="rId3">
            <a:alphaModFix/>
          </a:blip>
          <a:srcRect b="0" l="0" r="0" t="0"/>
          <a:stretch/>
        </p:blipFill>
        <p:spPr>
          <a:xfrm>
            <a:off x="2359484" y="3202305"/>
            <a:ext cx="7632295" cy="5537835"/>
          </a:xfrm>
          <a:prstGeom prst="rect">
            <a:avLst/>
          </a:prstGeom>
          <a:noFill/>
          <a:ln>
            <a:noFill/>
          </a:ln>
        </p:spPr>
      </p:pic>
      <p:graphicFrame>
        <p:nvGraphicFramePr>
          <p:cNvPr id="117" name="Google Shape;117;p14"/>
          <p:cNvGraphicFramePr/>
          <p:nvPr/>
        </p:nvGraphicFramePr>
        <p:xfrm>
          <a:off x="11764438" y="3513582"/>
          <a:ext cx="3000000" cy="3000000"/>
        </p:xfrm>
        <a:graphic>
          <a:graphicData uri="http://schemas.openxmlformats.org/drawingml/2006/table">
            <a:tbl>
              <a:tblPr>
                <a:noFill/>
                <a:tableStyleId>{AB66B845-1EDC-43A2-866E-C6FA973C604C}</a:tableStyleId>
              </a:tblPr>
              <a:tblGrid>
                <a:gridCol w="2439725"/>
                <a:gridCol w="3036100"/>
              </a:tblGrid>
              <a:tr h="591175">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Pino de J200</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Ligação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59117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+15 Vcc</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9117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2</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GND</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118" name="Google Shape;118;p14"/>
          <p:cNvSpPr/>
          <p:nvPr/>
        </p:nvSpPr>
        <p:spPr>
          <a:xfrm>
            <a:off x="11764438" y="5663565"/>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Ramos digitais</a:t>
            </a:r>
            <a:endParaRPr/>
          </a:p>
        </p:txBody>
      </p:sp>
      <p:sp>
        <p:nvSpPr>
          <p:cNvPr id="119" name="Google Shape;119;p14"/>
          <p:cNvSpPr/>
          <p:nvPr/>
        </p:nvSpPr>
        <p:spPr>
          <a:xfrm>
            <a:off x="11764438" y="6105144"/>
            <a:ext cx="5475812" cy="120167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O buck alimenta +5V_SYS. CM5 e Pico geram seus próprios ramos de 3,3 V.</a:t>
            </a:r>
            <a:endParaRPr/>
          </a:p>
        </p:txBody>
      </p:sp>
      <p:sp>
        <p:nvSpPr>
          <p:cNvPr id="120" name="Google Shape;120;p14"/>
          <p:cNvSpPr/>
          <p:nvPr/>
        </p:nvSpPr>
        <p:spPr>
          <a:xfrm>
            <a:off x="11764438" y="7328535"/>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Ramos analógicos</a:t>
            </a:r>
            <a:endParaRPr/>
          </a:p>
        </p:txBody>
      </p:sp>
      <p:sp>
        <p:nvSpPr>
          <p:cNvPr id="121" name="Google Shape;121;p14"/>
          <p:cNvSpPr/>
          <p:nvPr/>
        </p:nvSpPr>
        <p:spPr>
          <a:xfrm>
            <a:off x="11764438" y="7770114"/>
            <a:ext cx="5475812" cy="99174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0" lang="en-US" sz="2046">
                <a:solidFill>
                  <a:srgbClr val="111111"/>
                </a:solidFill>
                <a:latin typeface="Open Sans"/>
                <a:ea typeface="Open Sans"/>
                <a:cs typeface="Open Sans"/>
                <a:sym typeface="Open Sans"/>
              </a:rPr>
              <a:t>Os drivers usam +11 V e −11 V. A medição utiliza alimentação e referências próprias.</a:t>
            </a:r>
            <a:endParaRPr/>
          </a:p>
        </p:txBody>
      </p:sp>
      <p:sp>
        <p:nvSpPr>
          <p:cNvPr id="122" name="Google Shape;122;p14"/>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23" name="Google Shape;123;p14"/>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7/26</a:t>
            </a:r>
            <a:endParaRPr/>
          </a:p>
        </p:txBody>
      </p:sp>
      <p:pic>
        <p:nvPicPr>
          <p:cNvPr id="124" name="Google Shape;124;p14"/>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29" name="Shape 129"/>
        <p:cNvGrpSpPr/>
        <p:nvPr/>
      </p:nvGrpSpPr>
      <p:grpSpPr>
        <a:xfrm>
          <a:off x="0" y="0"/>
          <a:ext cx="0" cy="0"/>
          <a:chOff x="0" y="0"/>
          <a:chExt cx="0" cy="0"/>
        </a:xfrm>
      </p:grpSpPr>
      <p:sp>
        <p:nvSpPr>
          <p:cNvPr id="130" name="Google Shape;130;p15"/>
          <p:cNvSpPr/>
          <p:nvPr/>
        </p:nvSpPr>
        <p:spPr>
          <a:xfrm>
            <a:off x="2317261" y="3198495"/>
            <a:ext cx="7743939" cy="5002530"/>
          </a:xfrm>
          <a:prstGeom prst="roundRect">
            <a:avLst>
              <a:gd fmla="val 3046"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5"/>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J102: USB-C e programação</a:t>
            </a:r>
            <a:endParaRPr/>
          </a:p>
        </p:txBody>
      </p:sp>
      <p:sp>
        <p:nvSpPr>
          <p:cNvPr id="132" name="Google Shape;132;p15"/>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porta USB-C atende aos dados USB 2.0 e ao acesso ao modo de inicialização do módulo.</a:t>
            </a:r>
            <a:endParaRPr/>
          </a:p>
        </p:txBody>
      </p:sp>
      <p:pic>
        <p:nvPicPr>
          <p:cNvPr id="133" name="Google Shape;133;p15"/>
          <p:cNvPicPr preferRelativeResize="0"/>
          <p:nvPr/>
        </p:nvPicPr>
        <p:blipFill rotWithShape="1">
          <a:blip r:embed="rId3">
            <a:alphaModFix/>
          </a:blip>
          <a:srcRect b="0" l="0" r="0" t="0"/>
          <a:stretch/>
        </p:blipFill>
        <p:spPr>
          <a:xfrm>
            <a:off x="2393461" y="3274695"/>
            <a:ext cx="7591539" cy="4850130"/>
          </a:xfrm>
          <a:prstGeom prst="rect">
            <a:avLst/>
          </a:prstGeom>
          <a:noFill/>
          <a:ln>
            <a:noFill/>
          </a:ln>
        </p:spPr>
      </p:pic>
      <p:sp>
        <p:nvSpPr>
          <p:cNvPr id="134" name="Google Shape;134;p15"/>
          <p:cNvSpPr/>
          <p:nvPr/>
        </p:nvSpPr>
        <p:spPr>
          <a:xfrm>
            <a:off x="11764438" y="3383280"/>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J102 e o CM5</a:t>
            </a:r>
            <a:endParaRPr/>
          </a:p>
        </p:txBody>
      </p:sp>
      <p:sp>
        <p:nvSpPr>
          <p:cNvPr id="135" name="Google Shape;135;p15"/>
          <p:cNvSpPr/>
          <p:nvPr/>
        </p:nvSpPr>
        <p:spPr>
          <a:xfrm>
            <a:off x="11764438" y="3824859"/>
            <a:ext cx="5475812" cy="12306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Um computador acessa o CM5 pela porta USB-C, conforme a configuração de boot.</a:t>
            </a:r>
            <a:endParaRPr/>
          </a:p>
        </p:txBody>
      </p:sp>
      <p:sp>
        <p:nvSpPr>
          <p:cNvPr id="136" name="Google Shape;136;p15"/>
          <p:cNvSpPr/>
          <p:nvPr/>
        </p:nvSpPr>
        <p:spPr>
          <a:xfrm>
            <a:off x="11764438" y="5120640"/>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JP100 e a partida</a:t>
            </a:r>
            <a:endParaRPr/>
          </a:p>
        </p:txBody>
      </p:sp>
      <p:sp>
        <p:nvSpPr>
          <p:cNvPr id="137" name="Google Shape;137;p15"/>
          <p:cNvSpPr/>
          <p:nvPr/>
        </p:nvSpPr>
        <p:spPr>
          <a:xfrm>
            <a:off x="11764438" y="5562219"/>
            <a:ext cx="5475812" cy="12161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A ponte de boot seleciona a condição de inicialização usada na programação.</a:t>
            </a:r>
            <a:endParaRPr/>
          </a:p>
        </p:txBody>
      </p:sp>
      <p:sp>
        <p:nvSpPr>
          <p:cNvPr id="138" name="Google Shape;138;p15"/>
          <p:cNvSpPr/>
          <p:nvPr/>
        </p:nvSpPr>
        <p:spPr>
          <a:xfrm>
            <a:off x="11764438" y="6858000"/>
            <a:ext cx="547581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USB do Pico</a:t>
            </a:r>
            <a:endParaRPr/>
          </a:p>
        </p:txBody>
      </p:sp>
      <p:sp>
        <p:nvSpPr>
          <p:cNvPr id="139" name="Google Shape;139;p15"/>
          <p:cNvSpPr/>
          <p:nvPr/>
        </p:nvSpPr>
        <p:spPr>
          <a:xfrm>
            <a:off x="11764438" y="7299579"/>
            <a:ext cx="5475812" cy="107137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O módulo U300 tem sua própria porta USB para programar o RP2040.</a:t>
            </a:r>
            <a:endParaRPr/>
          </a:p>
        </p:txBody>
      </p:sp>
      <p:sp>
        <p:nvSpPr>
          <p:cNvPr id="140" name="Google Shape;140;p15"/>
          <p:cNvSpPr/>
          <p:nvPr/>
        </p:nvSpPr>
        <p:spPr>
          <a:xfrm>
            <a:off x="1047750" y="8378190"/>
            <a:ext cx="10481752" cy="4053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1" lang="en-US" sz="2112">
                <a:solidFill>
                  <a:srgbClr val="111111"/>
                </a:solidFill>
                <a:latin typeface="Open Sans"/>
                <a:ea typeface="Open Sans"/>
                <a:cs typeface="Open Sans"/>
                <a:sym typeface="Open Sans"/>
              </a:rPr>
              <a:t>A alimentação principal da placa continua entrando por J200.</a:t>
            </a:r>
            <a:endParaRPr/>
          </a:p>
        </p:txBody>
      </p:sp>
      <p:sp>
        <p:nvSpPr>
          <p:cNvPr id="141" name="Google Shape;141;p15"/>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42" name="Google Shape;142;p15"/>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8/26</a:t>
            </a:r>
            <a:endParaRPr/>
          </a:p>
        </p:txBody>
      </p:sp>
      <p:pic>
        <p:nvPicPr>
          <p:cNvPr id="143" name="Google Shape;143;p15"/>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48" name="Shape 148"/>
        <p:cNvGrpSpPr/>
        <p:nvPr/>
      </p:nvGrpSpPr>
      <p:grpSpPr>
        <a:xfrm>
          <a:off x="0" y="0"/>
          <a:ext cx="0" cy="0"/>
          <a:chOff x="0" y="0"/>
          <a:chExt cx="0" cy="0"/>
        </a:xfrm>
      </p:grpSpPr>
      <p:sp>
        <p:nvSpPr>
          <p:cNvPr id="149" name="Google Shape;149;p16"/>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J103: expansão I²C em 3,3 V</a:t>
            </a:r>
            <a:endParaRPr/>
          </a:p>
        </p:txBody>
      </p:sp>
      <p:sp>
        <p:nvSpPr>
          <p:cNvPr id="150" name="Google Shape;150;p16"/>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conector alimenta e comunica com um periférico compatível, como sensor ou display.</a:t>
            </a:r>
            <a:endParaRPr/>
          </a:p>
        </p:txBody>
      </p:sp>
      <p:graphicFrame>
        <p:nvGraphicFramePr>
          <p:cNvPr id="151" name="Google Shape;151;p16"/>
          <p:cNvGraphicFramePr/>
          <p:nvPr/>
        </p:nvGraphicFramePr>
        <p:xfrm>
          <a:off x="1047750" y="3419475"/>
          <a:ext cx="3000000" cy="3000000"/>
        </p:xfrm>
        <a:graphic>
          <a:graphicData uri="http://schemas.openxmlformats.org/drawingml/2006/table">
            <a:tbl>
              <a:tblPr>
                <a:noFill/>
                <a:tableStyleId>{AB66B845-1EDC-43A2-866E-C6FA973C604C}</a:tableStyleId>
              </a:tblPr>
              <a:tblGrid>
                <a:gridCol w="1536125"/>
                <a:gridCol w="3524025"/>
                <a:gridCol w="11132350"/>
              </a:tblGrid>
              <a:tr h="637025">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Pino</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Sinal</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Função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CM5_3V3</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Saída de alimentação de 3,3 V</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2</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GND</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Referência e retorno</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3</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SDA</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Dados nos dois sentidos</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4</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SCL</a:t>
                      </a:r>
                      <a:endParaRPr/>
                    </a:p>
                  </a:txBody>
                  <a:tcPr marT="45725" marB="45725" marR="91450" marL="91450" anchor="ctr">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Relógio da comunicação</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152" name="Google Shape;152;p16"/>
          <p:cNvSpPr/>
          <p:nvPr/>
        </p:nvSpPr>
        <p:spPr>
          <a:xfrm>
            <a:off x="1047750" y="7038975"/>
            <a:ext cx="759023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Origem dos 3,3 V</a:t>
            </a:r>
            <a:endParaRPr/>
          </a:p>
        </p:txBody>
      </p:sp>
      <p:sp>
        <p:nvSpPr>
          <p:cNvPr id="153" name="Google Shape;153;p16"/>
          <p:cNvSpPr/>
          <p:nvPr/>
        </p:nvSpPr>
        <p:spPr>
          <a:xfrm>
            <a:off x="1047750" y="7480554"/>
            <a:ext cx="7590234"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 energia vem de J200, passa pelo ramo de 5 V e pelo regulador do CM5.</a:t>
            </a:r>
            <a:endParaRPr/>
          </a:p>
        </p:txBody>
      </p:sp>
      <p:sp>
        <p:nvSpPr>
          <p:cNvPr id="154" name="Google Shape;154;p16"/>
          <p:cNvSpPr/>
          <p:nvPr/>
        </p:nvSpPr>
        <p:spPr>
          <a:xfrm>
            <a:off x="9505440" y="703897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Ligação ao periférico</a:t>
            </a:r>
            <a:endParaRPr/>
          </a:p>
        </p:txBody>
      </p:sp>
      <p:sp>
        <p:nvSpPr>
          <p:cNvPr id="155" name="Google Shape;155;p16"/>
          <p:cNvSpPr/>
          <p:nvPr/>
        </p:nvSpPr>
        <p:spPr>
          <a:xfrm>
            <a:off x="9505440" y="7480554"/>
            <a:ext cx="7734810"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VCC no pino 1, GND no 2, SDA no 3 e SCL no 4. A interface utiliza lógica de 3,3 V.</a:t>
            </a:r>
            <a:endParaRPr/>
          </a:p>
        </p:txBody>
      </p:sp>
      <p:sp>
        <p:nvSpPr>
          <p:cNvPr id="156" name="Google Shape;156;p16"/>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57" name="Google Shape;157;p16"/>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9/26</a:t>
            </a:r>
            <a:endParaRPr/>
          </a:p>
        </p:txBody>
      </p:sp>
      <p:pic>
        <p:nvPicPr>
          <p:cNvPr id="158" name="Google Shape;158;p16"/>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63" name="Shape 163"/>
        <p:cNvGrpSpPr/>
        <p:nvPr/>
      </p:nvGrpSpPr>
      <p:grpSpPr>
        <a:xfrm>
          <a:off x="0" y="0"/>
          <a:ext cx="0" cy="0"/>
          <a:chOff x="0" y="0"/>
          <a:chExt cx="0" cy="0"/>
        </a:xfrm>
      </p:grpSpPr>
      <p:sp>
        <p:nvSpPr>
          <p:cNvPr id="164" name="Google Shape;164;p17"/>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J104: controle do ventilador</a:t>
            </a:r>
            <a:endParaRPr/>
          </a:p>
        </p:txBody>
      </p:sp>
      <p:sp>
        <p:nvSpPr>
          <p:cNvPr id="165" name="Google Shape;165;p17"/>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Os fios de energia fazem o motor girar. Os outros dois sinais acompanham e comandam a rotação.</a:t>
            </a:r>
            <a:endParaRPr/>
          </a:p>
        </p:txBody>
      </p:sp>
      <p:graphicFrame>
        <p:nvGraphicFramePr>
          <p:cNvPr id="166" name="Google Shape;166;p17"/>
          <p:cNvGraphicFramePr/>
          <p:nvPr/>
        </p:nvGraphicFramePr>
        <p:xfrm>
          <a:off x="1047750" y="3419475"/>
          <a:ext cx="3000000" cy="3000000"/>
        </p:xfrm>
        <a:graphic>
          <a:graphicData uri="http://schemas.openxmlformats.org/drawingml/2006/table">
            <a:tbl>
              <a:tblPr>
                <a:noFill/>
                <a:tableStyleId>{AB66B845-1EDC-43A2-866E-C6FA973C604C}</a:tableStyleId>
              </a:tblPr>
              <a:tblGrid>
                <a:gridCol w="1536125"/>
                <a:gridCol w="3524025"/>
                <a:gridCol w="11132350"/>
              </a:tblGrid>
              <a:tr h="637025">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Pino</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Sinal</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Sentido e função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GND</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Retorno da alimentação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2</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+5V_SYS</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Saída de 5 V para o motor</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3</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Tacômetro</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Entrada de pulsos de rotação no CM5</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4</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PWM</a:t>
                      </a:r>
                      <a:endParaRPr/>
                    </a:p>
                  </a:txBody>
                  <a:tcPr marT="45725" marB="45725" marR="91450" marL="91450" anchor="ctr">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Saída de comando do CM5</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167" name="Google Shape;167;p17"/>
          <p:cNvSpPr/>
          <p:nvPr/>
        </p:nvSpPr>
        <p:spPr>
          <a:xfrm>
            <a:off x="1047750" y="7038975"/>
            <a:ext cx="759023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Tacômetro</a:t>
            </a:r>
            <a:endParaRPr/>
          </a:p>
        </p:txBody>
      </p:sp>
      <p:sp>
        <p:nvSpPr>
          <p:cNvPr id="168" name="Google Shape;168;p17"/>
          <p:cNvSpPr/>
          <p:nvPr/>
        </p:nvSpPr>
        <p:spPr>
          <a:xfrm>
            <a:off x="1047750" y="7480554"/>
            <a:ext cx="7590234" cy="10134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O ventilador devolve pulsos que permitem acompanhar sua velocidade.</a:t>
            </a:r>
            <a:endParaRPr/>
          </a:p>
        </p:txBody>
      </p:sp>
      <p:sp>
        <p:nvSpPr>
          <p:cNvPr id="169" name="Google Shape;169;p17"/>
          <p:cNvSpPr/>
          <p:nvPr/>
        </p:nvSpPr>
        <p:spPr>
          <a:xfrm>
            <a:off x="9505440" y="703897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PWM</a:t>
            </a:r>
            <a:endParaRPr/>
          </a:p>
        </p:txBody>
      </p:sp>
      <p:sp>
        <p:nvSpPr>
          <p:cNvPr id="170" name="Google Shape;170;p17"/>
          <p:cNvSpPr/>
          <p:nvPr/>
        </p:nvSpPr>
        <p:spPr>
          <a:xfrm>
            <a:off x="9505440" y="7480554"/>
            <a:ext cx="7734810" cy="10134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O CM5 varia o comando para solicitar a velocidade ao ventilador compatível.</a:t>
            </a:r>
            <a:endParaRPr/>
          </a:p>
        </p:txBody>
      </p:sp>
      <p:sp>
        <p:nvSpPr>
          <p:cNvPr id="171" name="Google Shape;171;p17"/>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72" name="Google Shape;172;p17"/>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10/26</a:t>
            </a:r>
            <a:endParaRPr/>
          </a:p>
        </p:txBody>
      </p:sp>
      <p:pic>
        <p:nvPicPr>
          <p:cNvPr id="173" name="Google Shape;173;p17"/>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78" name="Shape 178"/>
        <p:cNvGrpSpPr/>
        <p:nvPr/>
      </p:nvGrpSpPr>
      <p:grpSpPr>
        <a:xfrm>
          <a:off x="0" y="0"/>
          <a:ext cx="0" cy="0"/>
          <a:chOff x="0" y="0"/>
          <a:chExt cx="0" cy="0"/>
        </a:xfrm>
      </p:grpSpPr>
      <p:sp>
        <p:nvSpPr>
          <p:cNvPr id="179" name="Google Shape;179;p18"/>
          <p:cNvSpPr/>
          <p:nvPr/>
        </p:nvSpPr>
        <p:spPr>
          <a:xfrm>
            <a:off x="2004821" y="3940999"/>
            <a:ext cx="8477250" cy="3734764"/>
          </a:xfrm>
          <a:prstGeom prst="roundRect">
            <a:avLst>
              <a:gd fmla="val 4081"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8"/>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J500: entrada do fotodiodo</a:t>
            </a:r>
            <a:endParaRPr/>
          </a:p>
        </p:txBody>
      </p:sp>
      <p:sp>
        <p:nvSpPr>
          <p:cNvPr id="181" name="Google Shape;181;p18"/>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luz chega ao detector externo. A placa recebe a corrente produzida por ele.</a:t>
            </a:r>
            <a:endParaRPr/>
          </a:p>
        </p:txBody>
      </p:sp>
      <p:pic>
        <p:nvPicPr>
          <p:cNvPr id="182" name="Google Shape;182;p18"/>
          <p:cNvPicPr preferRelativeResize="0"/>
          <p:nvPr/>
        </p:nvPicPr>
        <p:blipFill rotWithShape="1">
          <a:blip r:embed="rId3">
            <a:alphaModFix/>
          </a:blip>
          <a:srcRect b="0" l="0" r="0" t="0"/>
          <a:stretch/>
        </p:blipFill>
        <p:spPr>
          <a:xfrm>
            <a:off x="2081021" y="4017199"/>
            <a:ext cx="8324850" cy="3582364"/>
          </a:xfrm>
          <a:prstGeom prst="rect">
            <a:avLst/>
          </a:prstGeom>
          <a:noFill/>
          <a:ln>
            <a:noFill/>
          </a:ln>
        </p:spPr>
      </p:pic>
      <p:graphicFrame>
        <p:nvGraphicFramePr>
          <p:cNvPr id="183" name="Google Shape;183;p18"/>
          <p:cNvGraphicFramePr/>
          <p:nvPr/>
        </p:nvGraphicFramePr>
        <p:xfrm>
          <a:off x="11854798" y="3528060"/>
          <a:ext cx="3000000" cy="3000000"/>
        </p:xfrm>
        <a:graphic>
          <a:graphicData uri="http://schemas.openxmlformats.org/drawingml/2006/table">
            <a:tbl>
              <a:tblPr>
                <a:noFill/>
                <a:tableStyleId>{AB66B845-1EDC-43A2-866E-C6FA973C604C}</a:tableStyleId>
              </a:tblPr>
              <a:tblGrid>
                <a:gridCol w="2259000"/>
                <a:gridCol w="3126450"/>
              </a:tblGrid>
              <a:tr h="651500">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Contato U.FL</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Sinal</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51500">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Centro</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Corrente do fotodiodo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51500">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Blindagem</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GND</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184" name="Google Shape;184;p18"/>
          <p:cNvSpPr/>
          <p:nvPr/>
        </p:nvSpPr>
        <p:spPr>
          <a:xfrm>
            <a:off x="11854798" y="5916930"/>
            <a:ext cx="538545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Pontos do percurso</a:t>
            </a:r>
            <a:endParaRPr/>
          </a:p>
        </p:txBody>
      </p:sp>
      <p:sp>
        <p:nvSpPr>
          <p:cNvPr id="185" name="Google Shape;185;p18"/>
          <p:cNvSpPr/>
          <p:nvPr/>
        </p:nvSpPr>
        <p:spPr>
          <a:xfrm>
            <a:off x="11854798" y="6358509"/>
            <a:ext cx="5385452" cy="14116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TP500 observa TIA_OUT, antes do filtro. TP501 observa PHOTO_ADC, na entrada do ADC.</a:t>
            </a:r>
            <a:endParaRPr/>
          </a:p>
        </p:txBody>
      </p:sp>
      <p:sp>
        <p:nvSpPr>
          <p:cNvPr id="186" name="Google Shape;186;p18"/>
          <p:cNvSpPr/>
          <p:nvPr/>
        </p:nvSpPr>
        <p:spPr>
          <a:xfrm>
            <a:off x="1047750" y="8146542"/>
            <a:ext cx="10481752" cy="637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1" lang="en-US" sz="2310">
                <a:solidFill>
                  <a:srgbClr val="111111"/>
                </a:solidFill>
                <a:latin typeface="Open Sans"/>
                <a:ea typeface="Open Sans"/>
                <a:cs typeface="Open Sans"/>
                <a:sym typeface="Open Sans"/>
              </a:rPr>
              <a:t>A fibra óptica termina no fotodiodo. O trecho até J500 é elétrico.</a:t>
            </a:r>
            <a:endParaRPr/>
          </a:p>
        </p:txBody>
      </p:sp>
      <p:sp>
        <p:nvSpPr>
          <p:cNvPr id="187" name="Google Shape;187;p18"/>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188" name="Google Shape;188;p18"/>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11/26</a:t>
            </a:r>
            <a:endParaRPr/>
          </a:p>
        </p:txBody>
      </p:sp>
      <p:pic>
        <p:nvPicPr>
          <p:cNvPr id="189" name="Google Shape;189;p18"/>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194" name="Shape 194"/>
        <p:cNvGrpSpPr/>
        <p:nvPr/>
      </p:nvGrpSpPr>
      <p:grpSpPr>
        <a:xfrm>
          <a:off x="0" y="0"/>
          <a:ext cx="0" cy="0"/>
          <a:chOff x="0" y="0"/>
          <a:chExt cx="0" cy="0"/>
        </a:xfrm>
      </p:grpSpPr>
      <p:sp>
        <p:nvSpPr>
          <p:cNvPr id="195" name="Google Shape;195;p19"/>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TIA e filtro de entrada</a:t>
            </a:r>
            <a:endParaRPr/>
          </a:p>
        </p:txBody>
      </p:sp>
      <p:sp>
        <p:nvSpPr>
          <p:cNvPr id="196" name="Google Shape;196;p19"/>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TIA permite que uma corrente de poucos microampères se transforme em uma tensão legível.</a:t>
            </a:r>
            <a:endParaRPr/>
          </a:p>
        </p:txBody>
      </p:sp>
      <p:sp>
        <p:nvSpPr>
          <p:cNvPr id="197" name="Google Shape;197;p19"/>
          <p:cNvSpPr/>
          <p:nvPr/>
        </p:nvSpPr>
        <p:spPr>
          <a:xfrm>
            <a:off x="1047750" y="3347085"/>
            <a:ext cx="16192500" cy="6877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564"/>
              <a:buFont typeface="Open Sans"/>
              <a:buNone/>
            </a:pPr>
            <a:r>
              <a:rPr b="1" lang="en-US" sz="3564">
                <a:solidFill>
                  <a:srgbClr val="111111"/>
                </a:solidFill>
                <a:latin typeface="Open Sans"/>
                <a:ea typeface="Open Sans"/>
                <a:cs typeface="Open Sans"/>
                <a:sym typeface="Open Sans"/>
              </a:rPr>
              <a:t>VTIA ≈ 0,2478 V + (220 kΩ × Iphoto)</a:t>
            </a:r>
            <a:endParaRPr/>
          </a:p>
        </p:txBody>
      </p:sp>
      <p:sp>
        <p:nvSpPr>
          <p:cNvPr id="198" name="Google Shape;198;p19"/>
          <p:cNvSpPr/>
          <p:nvPr/>
        </p:nvSpPr>
        <p:spPr>
          <a:xfrm>
            <a:off x="1047750" y="4143375"/>
            <a:ext cx="16192500" cy="456057"/>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Relação nominal em baixa frequência, na polaridade adotada e na faixa linear do circuito.</a:t>
            </a:r>
            <a:endParaRPr/>
          </a:p>
        </p:txBody>
      </p:sp>
      <p:graphicFrame>
        <p:nvGraphicFramePr>
          <p:cNvPr id="199" name="Google Shape;199;p19"/>
          <p:cNvGraphicFramePr/>
          <p:nvPr/>
        </p:nvGraphicFramePr>
        <p:xfrm>
          <a:off x="1047750" y="4903470"/>
          <a:ext cx="3000000" cy="3000000"/>
        </p:xfrm>
        <a:graphic>
          <a:graphicData uri="http://schemas.openxmlformats.org/drawingml/2006/table">
            <a:tbl>
              <a:tblPr>
                <a:noFill/>
                <a:tableStyleId>{AB66B845-1EDC-43A2-866E-C6FA973C604C}</a:tableStyleId>
              </a:tblPr>
              <a:tblGrid>
                <a:gridCol w="2891525"/>
                <a:gridCol w="5014975"/>
              </a:tblGrid>
              <a:tr h="633425">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Fotocorrente</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Tensão calculada em TP500</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34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0 µA</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0,2478 V</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34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 µA</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0,4678 V</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34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5 µA</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1,3478 V</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200" name="Google Shape;200;p19"/>
          <p:cNvSpPr/>
          <p:nvPr/>
        </p:nvSpPr>
        <p:spPr>
          <a:xfrm>
            <a:off x="9686160" y="4903470"/>
            <a:ext cx="755409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U500: transimpedância</a:t>
            </a:r>
            <a:endParaRPr/>
          </a:p>
        </p:txBody>
      </p:sp>
      <p:sp>
        <p:nvSpPr>
          <p:cNvPr id="201" name="Google Shape;201;p19"/>
          <p:cNvSpPr/>
          <p:nvPr/>
        </p:nvSpPr>
        <p:spPr>
          <a:xfrm>
            <a:off x="9686160" y="5345049"/>
            <a:ext cx="7554090" cy="11003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R500, de 220 kΩ, define o ganho nominal. C500 participa da resposta em frequência.</a:t>
            </a:r>
            <a:endParaRPr/>
          </a:p>
        </p:txBody>
      </p:sp>
      <p:sp>
        <p:nvSpPr>
          <p:cNvPr id="202" name="Google Shape;202;p19"/>
          <p:cNvSpPr/>
          <p:nvPr/>
        </p:nvSpPr>
        <p:spPr>
          <a:xfrm>
            <a:off x="9686160" y="6785610"/>
            <a:ext cx="755409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U502: filtragem</a:t>
            </a:r>
            <a:endParaRPr/>
          </a:p>
        </p:txBody>
      </p:sp>
      <p:sp>
        <p:nvSpPr>
          <p:cNvPr id="203" name="Google Shape;203;p19"/>
          <p:cNvSpPr/>
          <p:nvPr/>
        </p:nvSpPr>
        <p:spPr>
          <a:xfrm>
            <a:off x="9686160" y="7227189"/>
            <a:ext cx="7554090" cy="1158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O filtro preserva variações lentas. Sua frequência natural nominal é próxima de 232 Hz.</a:t>
            </a:r>
            <a:endParaRPr/>
          </a:p>
        </p:txBody>
      </p:sp>
      <p:sp>
        <p:nvSpPr>
          <p:cNvPr id="204" name="Google Shape;204;p19"/>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205" name="Google Shape;205;p19"/>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12/26</a:t>
            </a:r>
            <a:endParaRPr/>
          </a:p>
        </p:txBody>
      </p:sp>
      <p:pic>
        <p:nvPicPr>
          <p:cNvPr id="206" name="Google Shape;206;p19"/>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11" name="Shape 211"/>
        <p:cNvGrpSpPr/>
        <p:nvPr/>
      </p:nvGrpSpPr>
      <p:grpSpPr>
        <a:xfrm>
          <a:off x="0" y="0"/>
          <a:ext cx="0" cy="0"/>
          <a:chOff x="0" y="0"/>
          <a:chExt cx="0" cy="0"/>
        </a:xfrm>
      </p:grpSpPr>
      <p:sp>
        <p:nvSpPr>
          <p:cNvPr id="212" name="Google Shape;212;p20"/>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ADC: leitura dos sinais</a:t>
            </a:r>
            <a:endParaRPr/>
          </a:p>
        </p:txBody>
      </p:sp>
      <p:sp>
        <p:nvSpPr>
          <p:cNvPr id="213" name="Google Shape;213;p20"/>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U400, ADS1256, possui resolução nominal de 24 bits e recebe a referência de 2,5 V de U401.</a:t>
            </a:r>
            <a:endParaRPr/>
          </a:p>
        </p:txBody>
      </p:sp>
      <p:graphicFrame>
        <p:nvGraphicFramePr>
          <p:cNvPr id="214" name="Google Shape;214;p20"/>
          <p:cNvGraphicFramePr/>
          <p:nvPr/>
        </p:nvGraphicFramePr>
        <p:xfrm>
          <a:off x="1047750" y="3419475"/>
          <a:ext cx="3000000" cy="3000000"/>
        </p:xfrm>
        <a:graphic>
          <a:graphicData uri="http://schemas.openxmlformats.org/drawingml/2006/table">
            <a:tbl>
              <a:tblPr>
                <a:noFill/>
                <a:tableStyleId>{AB66B845-1EDC-43A2-866E-C6FA973C604C}</a:tableStyleId>
              </a:tblPr>
              <a:tblGrid>
                <a:gridCol w="1987925"/>
                <a:gridCol w="3433675"/>
                <a:gridCol w="10770900"/>
              </a:tblGrid>
              <a:tr h="637025">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Entrada</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Rede</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244"/>
                        <a:buFont typeface="Open Sans"/>
                        <a:buNone/>
                      </a:pPr>
                      <a:r>
                        <a:rPr b="1" lang="en-US" sz="2244">
                          <a:solidFill>
                            <a:srgbClr val="FFFFFF"/>
                          </a:solidFill>
                          <a:latin typeface="Open Sans"/>
                          <a:ea typeface="Open Sans"/>
                          <a:cs typeface="Open Sans"/>
                          <a:sym typeface="Open Sans"/>
                        </a:rPr>
                        <a:t>Grandeza observada</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70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AIN0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PHOTO_ADC</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Fotodiodo após TIA e filtro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AIN1</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MON_I</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BIAS I monitorado antes do relé</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70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AIN2</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MON_Q</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BIAS Q monitorado antes do relé</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7025">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AIN3</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MON_PHI</a:t>
                      </a:r>
                      <a:endParaRPr/>
                    </a:p>
                  </a:txBody>
                  <a:tcPr marT="45725" marB="45725" marR="91450" marL="91450" anchor="ctr">
                    <a:lnB cap="flat" cmpd="sng" w="15225">
                      <a:solidFill>
                        <a:srgbClr val="D6DEFF"/>
                      </a:solidFill>
                      <a:prstDash val="solid"/>
                      <a:round/>
                      <a:headEnd len="sm" w="sm" type="none"/>
                      <a:tailEnd len="sm" w="sm" type="none"/>
                    </a:lnB>
                    <a:solidFill>
                      <a:srgbClr val="F1F4FF"/>
                    </a:solidFill>
                  </a:tcPr>
                </a:tc>
                <a:tc>
                  <a:txBody>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BIAS PHI monitorado antes do relé</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1F4FF"/>
                    </a:solidFill>
                  </a:tcPr>
                </a:tc>
              </a:tr>
            </a:tbl>
          </a:graphicData>
        </a:graphic>
      </p:graphicFrame>
      <p:sp>
        <p:nvSpPr>
          <p:cNvPr id="215" name="Google Shape;215;p20"/>
          <p:cNvSpPr/>
          <p:nvPr/>
        </p:nvSpPr>
        <p:spPr>
          <a:xfrm>
            <a:off x="1047750" y="7038975"/>
            <a:ext cx="7590234"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Aquisição sequencial</a:t>
            </a:r>
            <a:endParaRPr/>
          </a:p>
        </p:txBody>
      </p:sp>
      <p:sp>
        <p:nvSpPr>
          <p:cNvPr id="216" name="Google Shape;216;p20"/>
          <p:cNvSpPr/>
          <p:nvPr/>
        </p:nvSpPr>
        <p:spPr>
          <a:xfrm>
            <a:off x="1047750" y="7480554"/>
            <a:ext cx="7590234"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Um multiplexador seleciona a entrada. Os canais compartilham o mesmo conversor.</a:t>
            </a:r>
            <a:endParaRPr/>
          </a:p>
        </p:txBody>
      </p:sp>
      <p:sp>
        <p:nvSpPr>
          <p:cNvPr id="217" name="Google Shape;217;p20"/>
          <p:cNvSpPr/>
          <p:nvPr/>
        </p:nvSpPr>
        <p:spPr>
          <a:xfrm>
            <a:off x="9505440" y="703897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Leitura pelo Pico</a:t>
            </a:r>
            <a:endParaRPr/>
          </a:p>
        </p:txBody>
      </p:sp>
      <p:sp>
        <p:nvSpPr>
          <p:cNvPr id="218" name="Google Shape;218;p20"/>
          <p:cNvSpPr/>
          <p:nvPr/>
        </p:nvSpPr>
        <p:spPr>
          <a:xfrm>
            <a:off x="9505440" y="7480554"/>
            <a:ext cx="7734810" cy="1085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44"/>
              <a:buFont typeface="Open Sans"/>
              <a:buNone/>
            </a:pPr>
            <a:r>
              <a:rPr b="0" lang="en-US" sz="2244">
                <a:solidFill>
                  <a:srgbClr val="111111"/>
                </a:solidFill>
                <a:latin typeface="Open Sans"/>
                <a:ea typeface="Open Sans"/>
                <a:cs typeface="Open Sans"/>
                <a:sym typeface="Open Sans"/>
              </a:rPr>
              <a:t>O RP2040 seleciona o canal, aguarda a conversão e lê o resultado por SPI.</a:t>
            </a:r>
            <a:endParaRPr/>
          </a:p>
        </p:txBody>
      </p:sp>
      <p:sp>
        <p:nvSpPr>
          <p:cNvPr id="219" name="Google Shape;219;p20"/>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13/26</a:t>
            </a:r>
            <a:endParaRPr/>
          </a:p>
        </p:txBody>
      </p:sp>
      <p:pic>
        <p:nvPicPr>
          <p:cNvPr id="220" name="Google Shape;220;p20"/>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25" name="Shape 225"/>
        <p:cNvGrpSpPr/>
        <p:nvPr/>
      </p:nvGrpSpPr>
      <p:grpSpPr>
        <a:xfrm>
          <a:off x="0" y="0"/>
          <a:ext cx="0" cy="0"/>
          <a:chOff x="0" y="0"/>
          <a:chExt cx="0" cy="0"/>
        </a:xfrm>
      </p:grpSpPr>
      <p:sp>
        <p:nvSpPr>
          <p:cNvPr id="226" name="Google Shape;226;p21"/>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DAC e geração do BIAS</a:t>
            </a:r>
            <a:endParaRPr/>
          </a:p>
        </p:txBody>
      </p:sp>
      <p:sp>
        <p:nvSpPr>
          <p:cNvPr id="227" name="Google Shape;227;p21"/>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U600, DAC80504, transforma os comandos digitais em tensões analógicas.</a:t>
            </a:r>
            <a:endParaRPr/>
          </a:p>
        </p:txBody>
      </p:sp>
      <p:sp>
        <p:nvSpPr>
          <p:cNvPr id="228" name="Google Shape;228;p21"/>
          <p:cNvSpPr/>
          <p:nvPr/>
        </p:nvSpPr>
        <p:spPr>
          <a:xfrm>
            <a:off x="1047750" y="3347085"/>
            <a:ext cx="16192500" cy="6877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696"/>
              <a:buFont typeface="Open Sans"/>
              <a:buNone/>
            </a:pPr>
            <a:r>
              <a:rPr b="1" lang="en-US" sz="3696">
                <a:solidFill>
                  <a:srgbClr val="111111"/>
                </a:solidFill>
                <a:latin typeface="Open Sans"/>
                <a:ea typeface="Open Sans"/>
                <a:cs typeface="Open Sans"/>
                <a:sym typeface="Open Sans"/>
              </a:rPr>
              <a:t>VDRV ≈ 6,34 × (VDAC − 1,25 V)</a:t>
            </a:r>
            <a:endParaRPr/>
          </a:p>
        </p:txBody>
      </p:sp>
      <p:sp>
        <p:nvSpPr>
          <p:cNvPr id="229" name="Google Shape;229;p21"/>
          <p:cNvSpPr/>
          <p:nvPr/>
        </p:nvSpPr>
        <p:spPr>
          <a:xfrm>
            <a:off x="1047750" y="4157853"/>
            <a:ext cx="16192500" cy="4343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0" lang="en-US" sz="2112">
                <a:solidFill>
                  <a:srgbClr val="111111"/>
                </a:solidFill>
                <a:latin typeface="Open Sans"/>
                <a:ea typeface="Open Sans"/>
                <a:cs typeface="Open Sans"/>
                <a:sym typeface="Open Sans"/>
              </a:rPr>
              <a:t>Na configuração nominal , o DAC trabalha aproximadamente de 0 a 2,5 V.</a:t>
            </a:r>
            <a:endParaRPr/>
          </a:p>
        </p:txBody>
      </p:sp>
      <p:graphicFrame>
        <p:nvGraphicFramePr>
          <p:cNvPr id="230" name="Google Shape;230;p21"/>
          <p:cNvGraphicFramePr/>
          <p:nvPr/>
        </p:nvGraphicFramePr>
        <p:xfrm>
          <a:off x="1047750" y="5012055"/>
          <a:ext cx="3000000" cy="3000000"/>
        </p:xfrm>
        <a:graphic>
          <a:graphicData uri="http://schemas.openxmlformats.org/drawingml/2006/table">
            <a:tbl>
              <a:tblPr>
                <a:noFill/>
                <a:tableStyleId>{AB66B845-1EDC-43A2-866E-C6FA973C604C}</a:tableStyleId>
              </a:tblPr>
              <a:tblGrid>
                <a:gridCol w="3072250"/>
                <a:gridCol w="3975825"/>
                <a:gridCol w="9144425"/>
              </a:tblGrid>
              <a:tr h="633425">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VDAC</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VDRV calculado</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376"/>
                        <a:buFont typeface="Open Sans"/>
                        <a:buNone/>
                      </a:pPr>
                      <a:r>
                        <a:rPr b="1" lang="en-US" sz="2376">
                          <a:solidFill>
                            <a:srgbClr val="FFFFFF"/>
                          </a:solidFill>
                          <a:latin typeface="Open Sans"/>
                          <a:ea typeface="Open Sans"/>
                          <a:cs typeface="Open Sans"/>
                          <a:sym typeface="Open Sans"/>
                        </a:rPr>
                        <a:t>Interpretação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34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0 V</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−7,925 V</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Extremo ideal negativo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34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1,25 V</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0 V</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Comando de zero BIAS</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3425">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2,50 V</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+7,925 V</a:t>
                      </a:r>
                      <a:endParaRPr/>
                    </a:p>
                  </a:txBody>
                  <a:tcPr marT="45725" marB="45725" marR="91450" marL="91450" anchor="ctr">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376"/>
                        <a:buFont typeface="Open Sans"/>
                        <a:buNone/>
                      </a:pPr>
                      <a:r>
                        <a:rPr b="0" lang="en-US" sz="2376">
                          <a:solidFill>
                            <a:srgbClr val="111111"/>
                          </a:solidFill>
                          <a:latin typeface="Open Sans"/>
                          <a:ea typeface="Open Sans"/>
                          <a:cs typeface="Open Sans"/>
                          <a:sym typeface="Open Sans"/>
                        </a:rPr>
                        <a:t>Extremo ideal positivo</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231" name="Google Shape;231;p21"/>
          <p:cNvSpPr/>
          <p:nvPr/>
        </p:nvSpPr>
        <p:spPr>
          <a:xfrm>
            <a:off x="1047750" y="7987284"/>
            <a:ext cx="16192500" cy="68770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U601 mantém a referência central. U700, U800 e U900 amplificam a diferença nos canais I, Q e PHI.</a:t>
            </a:r>
            <a:endParaRPr/>
          </a:p>
        </p:txBody>
      </p:sp>
      <p:sp>
        <p:nvSpPr>
          <p:cNvPr id="232" name="Google Shape;232;p21"/>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233" name="Google Shape;233;p21"/>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14/26</a:t>
            </a:r>
            <a:endParaRPr/>
          </a:p>
        </p:txBody>
      </p:sp>
      <p:pic>
        <p:nvPicPr>
          <p:cNvPr id="234" name="Google Shape;234;p21"/>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39" name="Shape 239"/>
        <p:cNvGrpSpPr/>
        <p:nvPr/>
      </p:nvGrpSpPr>
      <p:grpSpPr>
        <a:xfrm>
          <a:off x="0" y="0"/>
          <a:ext cx="0" cy="0"/>
          <a:chOff x="0" y="0"/>
          <a:chExt cx="0" cy="0"/>
        </a:xfrm>
      </p:grpSpPr>
      <p:sp>
        <p:nvSpPr>
          <p:cNvPr id="240" name="Google Shape;240;p22"/>
          <p:cNvSpPr/>
          <p:nvPr/>
        </p:nvSpPr>
        <p:spPr>
          <a:xfrm>
            <a:off x="1694840" y="3153541"/>
            <a:ext cx="5979795" cy="5642530"/>
          </a:xfrm>
          <a:prstGeom prst="roundRect">
            <a:avLst>
              <a:gd fmla="val 2701"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J700, J800 e J900: saídas de BIAS</a:t>
            </a:r>
            <a:endParaRPr/>
          </a:p>
        </p:txBody>
      </p:sp>
      <p:sp>
        <p:nvSpPr>
          <p:cNvPr id="242" name="Google Shape;242;p22"/>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Cada conector SMA atende a um canal independente de polarização.</a:t>
            </a:r>
            <a:endParaRPr/>
          </a:p>
        </p:txBody>
      </p:sp>
      <p:pic>
        <p:nvPicPr>
          <p:cNvPr id="243" name="Google Shape;243;p22"/>
          <p:cNvPicPr preferRelativeResize="0"/>
          <p:nvPr/>
        </p:nvPicPr>
        <p:blipFill rotWithShape="1">
          <a:blip r:embed="rId3">
            <a:alphaModFix/>
          </a:blip>
          <a:srcRect b="0" l="0" r="0" t="0"/>
          <a:stretch/>
        </p:blipFill>
        <p:spPr>
          <a:xfrm>
            <a:off x="1771040" y="3229741"/>
            <a:ext cx="5827395" cy="5490130"/>
          </a:xfrm>
          <a:prstGeom prst="rect">
            <a:avLst/>
          </a:prstGeom>
          <a:noFill/>
          <a:ln>
            <a:noFill/>
          </a:ln>
        </p:spPr>
      </p:pic>
      <p:graphicFrame>
        <p:nvGraphicFramePr>
          <p:cNvPr id="244" name="Google Shape;244;p22"/>
          <p:cNvGraphicFramePr/>
          <p:nvPr/>
        </p:nvGraphicFramePr>
        <p:xfrm>
          <a:off x="9189180" y="3564255"/>
          <a:ext cx="3000000" cy="3000000"/>
        </p:xfrm>
        <a:graphic>
          <a:graphicData uri="http://schemas.openxmlformats.org/drawingml/2006/table">
            <a:tbl>
              <a:tblPr>
                <a:noFill/>
                <a:tableStyleId>{AB66B845-1EDC-43A2-866E-C6FA973C604C}</a:tableStyleId>
              </a:tblPr>
              <a:tblGrid>
                <a:gridCol w="1716850"/>
                <a:gridCol w="1536125"/>
                <a:gridCol w="4798100"/>
              </a:tblGrid>
              <a:tr h="633425">
                <a:tc>
                  <a:txBody>
                    <a:bodyPr/>
                    <a:lstStyle/>
                    <a:p>
                      <a:pPr indent="0" lvl="0" marL="0" marR="0" rtl="0" algn="l">
                        <a:spcBef>
                          <a:spcPts val="0"/>
                        </a:spcBef>
                        <a:spcAft>
                          <a:spcPts val="0"/>
                        </a:spcAft>
                        <a:buClr>
                          <a:srgbClr val="FFFFFF"/>
                        </a:buClr>
                        <a:buSzPts val="2178"/>
                        <a:buFont typeface="Open Sans"/>
                        <a:buNone/>
                      </a:pPr>
                      <a:r>
                        <a:rPr b="1" lang="en-US" sz="2178">
                          <a:solidFill>
                            <a:srgbClr val="FFFFFF"/>
                          </a:solidFill>
                          <a:latin typeface="Open Sans"/>
                          <a:ea typeface="Open Sans"/>
                          <a:cs typeface="Open Sans"/>
                          <a:sym typeface="Open Sans"/>
                        </a:rPr>
                        <a:t>SMA</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178"/>
                        <a:buFont typeface="Open Sans"/>
                        <a:buNone/>
                      </a:pPr>
                      <a:r>
                        <a:rPr b="1" lang="en-US" sz="2178">
                          <a:solidFill>
                            <a:srgbClr val="FFFFFF"/>
                          </a:solidFill>
                          <a:latin typeface="Open Sans"/>
                          <a:ea typeface="Open Sans"/>
                          <a:cs typeface="Open Sans"/>
                          <a:sym typeface="Open Sans"/>
                        </a:rPr>
                        <a:t>Canal</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2178"/>
                        <a:buFont typeface="Open Sans"/>
                        <a:buNone/>
                      </a:pPr>
                      <a:r>
                        <a:rPr b="1" lang="en-US" sz="2178">
                          <a:solidFill>
                            <a:srgbClr val="FFFFFF"/>
                          </a:solidFill>
                          <a:latin typeface="Open Sans"/>
                          <a:ea typeface="Open Sans"/>
                          <a:cs typeface="Open Sans"/>
                          <a:sym typeface="Open Sans"/>
                        </a:rPr>
                        <a:t>Rede de saída</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633425">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J700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I</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BIAS_OUT_I</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633425">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J800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Q</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BIAS_OUT_Q</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633425">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J900</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PHI</a:t>
                      </a:r>
                      <a:endParaRPr/>
                    </a:p>
                  </a:txBody>
                  <a:tcPr marT="45725" marB="45725" marR="91450" marL="91450" anchor="ctr">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BIAS_OUT_PHI</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245" name="Google Shape;245;p22"/>
          <p:cNvSpPr/>
          <p:nvPr/>
        </p:nvSpPr>
        <p:spPr>
          <a:xfrm>
            <a:off x="9189180" y="6604635"/>
            <a:ext cx="805107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Centro e blindagem</a:t>
            </a:r>
            <a:endParaRPr/>
          </a:p>
        </p:txBody>
      </p:sp>
      <p:sp>
        <p:nvSpPr>
          <p:cNvPr id="246" name="Google Shape;246;p22"/>
          <p:cNvSpPr/>
          <p:nvPr/>
        </p:nvSpPr>
        <p:spPr>
          <a:xfrm>
            <a:off x="9189180" y="7046214"/>
            <a:ext cx="8051070" cy="9048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 contato central leva o BIAS. A blindagem se conecta ao GND.</a:t>
            </a:r>
            <a:endParaRPr/>
          </a:p>
        </p:txBody>
      </p:sp>
      <p:sp>
        <p:nvSpPr>
          <p:cNvPr id="247" name="Google Shape;247;p22"/>
          <p:cNvSpPr/>
          <p:nvPr/>
        </p:nvSpPr>
        <p:spPr>
          <a:xfrm>
            <a:off x="9189180" y="8016240"/>
            <a:ext cx="8051070" cy="723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45"/>
              <a:buFont typeface="Open Sans"/>
              <a:buNone/>
            </a:pPr>
            <a:r>
              <a:rPr b="0" lang="en-US" sz="2046">
                <a:solidFill>
                  <a:srgbClr val="111111"/>
                </a:solidFill>
                <a:latin typeface="Open Sans"/>
                <a:ea typeface="Open Sans"/>
                <a:cs typeface="Open Sans"/>
                <a:sym typeface="Open Sans"/>
              </a:rPr>
              <a:t>No exemplo com MZM simples, utiliza-se J700. I, Q e PHI atendem a um modulador IQ compatível.</a:t>
            </a:r>
            <a:endParaRPr/>
          </a:p>
        </p:txBody>
      </p:sp>
      <p:sp>
        <p:nvSpPr>
          <p:cNvPr id="248" name="Google Shape;248;p22"/>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249" name="Google Shape;249;p22"/>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15/26</a:t>
            </a:r>
            <a:endParaRPr/>
          </a:p>
        </p:txBody>
      </p:sp>
      <p:pic>
        <p:nvPicPr>
          <p:cNvPr id="250" name="Google Shape;250;p22"/>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55" name="Shape 255"/>
        <p:cNvGrpSpPr/>
        <p:nvPr/>
      </p:nvGrpSpPr>
      <p:grpSpPr>
        <a:xfrm>
          <a:off x="0" y="0"/>
          <a:ext cx="0" cy="0"/>
          <a:chOff x="0" y="0"/>
          <a:chExt cx="0" cy="0"/>
        </a:xfrm>
      </p:grpSpPr>
      <p:sp>
        <p:nvSpPr>
          <p:cNvPr id="256" name="Google Shape;256;p23"/>
          <p:cNvSpPr/>
          <p:nvPr/>
        </p:nvSpPr>
        <p:spPr>
          <a:xfrm>
            <a:off x="4663375" y="3089910"/>
            <a:ext cx="8961250" cy="4857750"/>
          </a:xfrm>
          <a:prstGeom prst="roundRect">
            <a:avLst>
              <a:gd fmla="val 3137"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3"/>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Relés e supervisão das saídas</a:t>
            </a:r>
            <a:endParaRPr/>
          </a:p>
        </p:txBody>
      </p:sp>
      <p:sp>
        <p:nvSpPr>
          <p:cNvPr id="258" name="Google Shape;258;p23"/>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Os três canais geram comandos independentes e compartilham a autorização de desarme.</a:t>
            </a:r>
            <a:endParaRPr/>
          </a:p>
        </p:txBody>
      </p:sp>
      <p:pic>
        <p:nvPicPr>
          <p:cNvPr id="259" name="Google Shape;259;p23"/>
          <p:cNvPicPr preferRelativeResize="0"/>
          <p:nvPr/>
        </p:nvPicPr>
        <p:blipFill rotWithShape="1">
          <a:blip r:embed="rId3">
            <a:alphaModFix/>
          </a:blip>
          <a:srcRect b="0" l="0" r="0" t="0"/>
          <a:stretch/>
        </p:blipFill>
        <p:spPr>
          <a:xfrm>
            <a:off x="4739575" y="3166110"/>
            <a:ext cx="8808850" cy="4705350"/>
          </a:xfrm>
          <a:prstGeom prst="rect">
            <a:avLst/>
          </a:prstGeom>
          <a:noFill/>
          <a:ln>
            <a:noFill/>
          </a:ln>
        </p:spPr>
      </p:pic>
      <p:sp>
        <p:nvSpPr>
          <p:cNvPr id="260" name="Google Shape;260;p23"/>
          <p:cNvSpPr/>
          <p:nvPr/>
        </p:nvSpPr>
        <p:spPr>
          <a:xfrm>
            <a:off x="1282686" y="8016240"/>
            <a:ext cx="15722628" cy="7600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t/>
            </a:r>
            <a:endParaRPr/>
          </a:p>
        </p:txBody>
      </p:sp>
      <p:sp>
        <p:nvSpPr>
          <p:cNvPr id="261" name="Google Shape;261;p23"/>
          <p:cNvSpPr/>
          <p:nvPr/>
        </p:nvSpPr>
        <p:spPr>
          <a:xfrm>
            <a:off x="2095500" y="9582150"/>
            <a:ext cx="13906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4C4C4C"/>
              </a:buClr>
              <a:buSzPts val="1350"/>
              <a:buFont typeface="Open Sans"/>
              <a:buNone/>
            </a:pPr>
            <a:r>
              <a:t/>
            </a:r>
            <a:endParaRPr/>
          </a:p>
        </p:txBody>
      </p:sp>
      <p:sp>
        <p:nvSpPr>
          <p:cNvPr id="262" name="Google Shape;262;p23"/>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16/26</a:t>
            </a:r>
            <a:endParaRPr/>
          </a:p>
        </p:txBody>
      </p:sp>
      <p:pic>
        <p:nvPicPr>
          <p:cNvPr id="263" name="Google Shape;263;p23"/>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68" name="Shape 268"/>
        <p:cNvGrpSpPr/>
        <p:nvPr/>
      </p:nvGrpSpPr>
      <p:grpSpPr>
        <a:xfrm>
          <a:off x="0" y="0"/>
          <a:ext cx="0" cy="0"/>
          <a:chOff x="0" y="0"/>
          <a:chExt cx="0" cy="0"/>
        </a:xfrm>
      </p:grpSpPr>
      <p:sp>
        <p:nvSpPr>
          <p:cNvPr id="269" name="Google Shape;269;p24"/>
          <p:cNvSpPr/>
          <p:nvPr/>
        </p:nvSpPr>
        <p:spPr>
          <a:xfrm>
            <a:off x="4751245" y="3162300"/>
            <a:ext cx="8785600" cy="3832860"/>
          </a:xfrm>
          <a:prstGeom prst="roundRect">
            <a:avLst>
              <a:gd fmla="val 3976"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4"/>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BIAS_F e BIAS_OUT</a:t>
            </a:r>
            <a:endParaRPr/>
          </a:p>
        </p:txBody>
      </p:sp>
      <p:sp>
        <p:nvSpPr>
          <p:cNvPr id="271" name="Google Shape;271;p24"/>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primeiro ponto está antes do relé. O segundo mostra a tensão entregue ao conector.</a:t>
            </a:r>
            <a:endParaRPr/>
          </a:p>
        </p:txBody>
      </p:sp>
      <p:pic>
        <p:nvPicPr>
          <p:cNvPr id="272" name="Google Shape;272;p24"/>
          <p:cNvPicPr preferRelativeResize="0"/>
          <p:nvPr/>
        </p:nvPicPr>
        <p:blipFill rotWithShape="1">
          <a:blip r:embed="rId3">
            <a:alphaModFix/>
          </a:blip>
          <a:srcRect b="0" l="0" r="0" t="0"/>
          <a:stretch/>
        </p:blipFill>
        <p:spPr>
          <a:xfrm>
            <a:off x="4827445" y="3238500"/>
            <a:ext cx="8633200" cy="3680460"/>
          </a:xfrm>
          <a:prstGeom prst="rect">
            <a:avLst/>
          </a:prstGeom>
          <a:noFill/>
          <a:ln>
            <a:noFill/>
          </a:ln>
        </p:spPr>
      </p:pic>
      <p:graphicFrame>
        <p:nvGraphicFramePr>
          <p:cNvPr id="273" name="Google Shape;273;p24"/>
          <p:cNvGraphicFramePr/>
          <p:nvPr/>
        </p:nvGraphicFramePr>
        <p:xfrm>
          <a:off x="1047750" y="7183755"/>
          <a:ext cx="3000000" cy="3000000"/>
        </p:xfrm>
        <a:graphic>
          <a:graphicData uri="http://schemas.openxmlformats.org/drawingml/2006/table">
            <a:tbl>
              <a:tblPr>
                <a:noFill/>
                <a:tableStyleId>{AB66B845-1EDC-43A2-866E-C6FA973C604C}</a:tableStyleId>
              </a:tblPr>
              <a:tblGrid>
                <a:gridCol w="2259000"/>
                <a:gridCol w="6966750"/>
                <a:gridCol w="6966750"/>
              </a:tblGrid>
              <a:tr h="409000">
                <a:tc>
                  <a:txBody>
                    <a:bodyPr/>
                    <a:lstStyle/>
                    <a:p>
                      <a:pPr indent="0" lvl="0" marL="0" marR="0" rtl="0" algn="l">
                        <a:spcBef>
                          <a:spcPts val="0"/>
                        </a:spcBef>
                        <a:spcAft>
                          <a:spcPts val="0"/>
                        </a:spcAft>
                        <a:buClr>
                          <a:srgbClr val="FFFFFF"/>
                        </a:buClr>
                        <a:buSzPts val="1914"/>
                        <a:buFont typeface="Open Sans"/>
                        <a:buNone/>
                      </a:pPr>
                      <a:r>
                        <a:rPr b="1" lang="en-US" sz="1914">
                          <a:solidFill>
                            <a:srgbClr val="FFFFFF"/>
                          </a:solidFill>
                          <a:latin typeface="Open Sans"/>
                          <a:ea typeface="Open Sans"/>
                          <a:cs typeface="Open Sans"/>
                          <a:sym typeface="Open Sans"/>
                        </a:rPr>
                        <a:t>Canal</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14"/>
                        <a:buFont typeface="Open Sans"/>
                        <a:buNone/>
                      </a:pPr>
                      <a:r>
                        <a:rPr b="1" lang="en-US" sz="1914">
                          <a:solidFill>
                            <a:srgbClr val="FFFFFF"/>
                          </a:solidFill>
                          <a:latin typeface="Open Sans"/>
                          <a:ea typeface="Open Sans"/>
                          <a:cs typeface="Open Sans"/>
                          <a:sym typeface="Open Sans"/>
                        </a:rPr>
                        <a:t>Antes do relé: BIAS_F</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14"/>
                        <a:buFont typeface="Open Sans"/>
                        <a:buNone/>
                      </a:pPr>
                      <a:r>
                        <a:rPr b="1" lang="en-US" sz="1914">
                          <a:solidFill>
                            <a:srgbClr val="FFFFFF"/>
                          </a:solidFill>
                          <a:latin typeface="Open Sans"/>
                          <a:ea typeface="Open Sans"/>
                          <a:cs typeface="Open Sans"/>
                          <a:sym typeface="Open Sans"/>
                        </a:rPr>
                        <a:t>Depois do relé: BIAS_OUT</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409000">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I</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TP700</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TP701</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409000">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Q</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TP800</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TP801</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409000">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PHI</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TP900</a:t>
                      </a:r>
                      <a:endParaRPr/>
                    </a:p>
                  </a:txBody>
                  <a:tcPr marT="45725" marB="45725" marR="91450" marL="91450" anchor="ctr">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14"/>
                        <a:buFont typeface="Open Sans"/>
                        <a:buNone/>
                      </a:pPr>
                      <a:r>
                        <a:rPr b="0" lang="en-US" sz="1914">
                          <a:solidFill>
                            <a:srgbClr val="111111"/>
                          </a:solidFill>
                          <a:latin typeface="Open Sans"/>
                          <a:ea typeface="Open Sans"/>
                          <a:cs typeface="Open Sans"/>
                          <a:sym typeface="Open Sans"/>
                        </a:rPr>
                        <a:t>TP901</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274" name="Google Shape;274;p24"/>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17/26</a:t>
            </a:r>
            <a:endParaRPr/>
          </a:p>
        </p:txBody>
      </p:sp>
      <p:pic>
        <p:nvPicPr>
          <p:cNvPr id="275" name="Google Shape;275;p24"/>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80" name="Shape 280"/>
        <p:cNvGrpSpPr/>
        <p:nvPr/>
      </p:nvGrpSpPr>
      <p:grpSpPr>
        <a:xfrm>
          <a:off x="0" y="0"/>
          <a:ext cx="0" cy="0"/>
          <a:chOff x="0" y="0"/>
          <a:chExt cx="0" cy="0"/>
        </a:xfrm>
      </p:grpSpPr>
      <p:sp>
        <p:nvSpPr>
          <p:cNvPr id="281" name="Google Shape;281;p25"/>
          <p:cNvSpPr/>
          <p:nvPr/>
        </p:nvSpPr>
        <p:spPr>
          <a:xfrm>
            <a:off x="11581727" y="3388664"/>
            <a:ext cx="5118354" cy="2269446"/>
          </a:xfrm>
          <a:prstGeom prst="roundRect">
            <a:avLst>
              <a:gd fmla="val 6715"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5"/>
          <p:cNvSpPr/>
          <p:nvPr/>
        </p:nvSpPr>
        <p:spPr>
          <a:xfrm>
            <a:off x="1923956" y="3381280"/>
            <a:ext cx="7825740" cy="4948238"/>
          </a:xfrm>
          <a:prstGeom prst="roundRect">
            <a:avLst>
              <a:gd fmla="val 3080"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5"/>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Ensaio da entrada</a:t>
            </a:r>
            <a:endParaRPr/>
          </a:p>
        </p:txBody>
      </p:sp>
      <p:sp>
        <p:nvSpPr>
          <p:cNvPr id="284" name="Google Shape;284;p25"/>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gerador utiliza um resistor externo para produzir a corrente de teste em J500.</a:t>
            </a:r>
            <a:endParaRPr/>
          </a:p>
        </p:txBody>
      </p:sp>
      <p:pic>
        <p:nvPicPr>
          <p:cNvPr id="285" name="Google Shape;285;p25"/>
          <p:cNvPicPr preferRelativeResize="0"/>
          <p:nvPr/>
        </p:nvPicPr>
        <p:blipFill rotWithShape="1">
          <a:blip r:embed="rId3">
            <a:alphaModFix/>
          </a:blip>
          <a:srcRect b="0" l="0" r="0" t="0"/>
          <a:stretch/>
        </p:blipFill>
        <p:spPr>
          <a:xfrm>
            <a:off x="2000156" y="3457480"/>
            <a:ext cx="7673340" cy="4795838"/>
          </a:xfrm>
          <a:prstGeom prst="rect">
            <a:avLst/>
          </a:prstGeom>
          <a:noFill/>
          <a:ln>
            <a:noFill/>
          </a:ln>
        </p:spPr>
      </p:pic>
      <p:pic>
        <p:nvPicPr>
          <p:cNvPr id="286" name="Google Shape;286;p25"/>
          <p:cNvPicPr preferRelativeResize="0"/>
          <p:nvPr/>
        </p:nvPicPr>
        <p:blipFill rotWithShape="1">
          <a:blip r:embed="rId4">
            <a:alphaModFix/>
          </a:blip>
          <a:srcRect b="0" l="0" r="0" t="0"/>
          <a:stretch/>
        </p:blipFill>
        <p:spPr>
          <a:xfrm>
            <a:off x="11657927" y="3464864"/>
            <a:ext cx="4965954" cy="2117046"/>
          </a:xfrm>
          <a:prstGeom prst="rect">
            <a:avLst/>
          </a:prstGeom>
          <a:noFill/>
          <a:ln>
            <a:noFill/>
          </a:ln>
        </p:spPr>
      </p:pic>
      <p:sp>
        <p:nvSpPr>
          <p:cNvPr id="287" name="Google Shape;287;p25"/>
          <p:cNvSpPr/>
          <p:nvPr/>
        </p:nvSpPr>
        <p:spPr>
          <a:xfrm>
            <a:off x="11041559" y="6097905"/>
            <a:ext cx="6198691"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Estímulo do exemplo</a:t>
            </a:r>
            <a:endParaRPr/>
          </a:p>
        </p:txBody>
      </p:sp>
      <p:sp>
        <p:nvSpPr>
          <p:cNvPr id="288" name="Google Shape;288;p25"/>
          <p:cNvSpPr/>
          <p:nvPr/>
        </p:nvSpPr>
        <p:spPr>
          <a:xfrm>
            <a:off x="11041559" y="6539484"/>
            <a:ext cx="6198691" cy="111480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0" lang="en-US" sz="2112">
                <a:solidFill>
                  <a:srgbClr val="111111"/>
                </a:solidFill>
                <a:latin typeface="Open Sans"/>
                <a:ea typeface="Open Sans"/>
                <a:cs typeface="Open Sans"/>
                <a:sym typeface="Open Sans"/>
              </a:rPr>
              <a:t>Senoide de 17 Hz e 200 mVpp, offset nulo e indicação de carga Hi-Z no gerador.</a:t>
            </a:r>
            <a:endParaRPr/>
          </a:p>
        </p:txBody>
      </p:sp>
      <p:sp>
        <p:nvSpPr>
          <p:cNvPr id="289" name="Google Shape;289;p25"/>
          <p:cNvSpPr/>
          <p:nvPr/>
        </p:nvSpPr>
        <p:spPr>
          <a:xfrm>
            <a:off x="11041559" y="7871460"/>
            <a:ext cx="6198691" cy="7962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1" lang="en-US" sz="2112">
                <a:solidFill>
                  <a:srgbClr val="111111"/>
                </a:solidFill>
                <a:latin typeface="Open Sans"/>
                <a:ea typeface="Open Sans"/>
                <a:cs typeface="Open Sans"/>
                <a:sym typeface="Open Sans"/>
              </a:rPr>
              <a:t>CH1 em TP500 e CH2 em TP501. As garras das pontas ficam no GND.</a:t>
            </a:r>
            <a:endParaRPr/>
          </a:p>
        </p:txBody>
      </p:sp>
      <p:sp>
        <p:nvSpPr>
          <p:cNvPr id="290" name="Google Shape;290;p25"/>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19/26</a:t>
            </a:r>
            <a:endParaRPr/>
          </a:p>
        </p:txBody>
      </p:sp>
      <p:pic>
        <p:nvPicPr>
          <p:cNvPr id="291" name="Google Shape;291;p25"/>
          <p:cNvPicPr preferRelativeResize="0"/>
          <p:nvPr/>
        </p:nvPicPr>
        <p:blipFill rotWithShape="1">
          <a:blip r:embed="rId5">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296" name="Shape 296"/>
        <p:cNvGrpSpPr/>
        <p:nvPr/>
      </p:nvGrpSpPr>
      <p:grpSpPr>
        <a:xfrm>
          <a:off x="0" y="0"/>
          <a:ext cx="0" cy="0"/>
          <a:chOff x="0" y="0"/>
          <a:chExt cx="0" cy="0"/>
        </a:xfrm>
      </p:grpSpPr>
      <p:sp>
        <p:nvSpPr>
          <p:cNvPr id="297" name="Google Shape;297;p26"/>
          <p:cNvSpPr/>
          <p:nvPr/>
        </p:nvSpPr>
        <p:spPr>
          <a:xfrm>
            <a:off x="1994039" y="3273636"/>
            <a:ext cx="8390382" cy="5301139"/>
          </a:xfrm>
          <a:prstGeom prst="roundRect">
            <a:avLst>
              <a:gd fmla="val 2875"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6"/>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Ensaio das saídas</a:t>
            </a:r>
            <a:endParaRPr/>
          </a:p>
        </p:txBody>
      </p:sp>
      <p:sp>
        <p:nvSpPr>
          <p:cNvPr id="299" name="Google Shape;299;p26"/>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As medidas antes e depois do relé mostram a diferença entre comando interno e tensão entregue.</a:t>
            </a:r>
            <a:endParaRPr/>
          </a:p>
        </p:txBody>
      </p:sp>
      <p:pic>
        <p:nvPicPr>
          <p:cNvPr id="300" name="Google Shape;300;p26"/>
          <p:cNvPicPr preferRelativeResize="0"/>
          <p:nvPr/>
        </p:nvPicPr>
        <p:blipFill rotWithShape="1">
          <a:blip r:embed="rId3">
            <a:alphaModFix/>
          </a:blip>
          <a:srcRect b="0" l="0" r="0" t="0"/>
          <a:stretch/>
        </p:blipFill>
        <p:spPr>
          <a:xfrm>
            <a:off x="2070239" y="3349836"/>
            <a:ext cx="8237982" cy="5148739"/>
          </a:xfrm>
          <a:prstGeom prst="rect">
            <a:avLst/>
          </a:prstGeom>
          <a:noFill/>
          <a:ln>
            <a:noFill/>
          </a:ln>
        </p:spPr>
      </p:pic>
      <p:sp>
        <p:nvSpPr>
          <p:cNvPr id="301" name="Google Shape;301;p26"/>
          <p:cNvSpPr/>
          <p:nvPr/>
        </p:nvSpPr>
        <p:spPr>
          <a:xfrm>
            <a:off x="11854798" y="3383280"/>
            <a:ext cx="538545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Duas medidas</a:t>
            </a:r>
            <a:endParaRPr/>
          </a:p>
        </p:txBody>
      </p:sp>
      <p:sp>
        <p:nvSpPr>
          <p:cNvPr id="302" name="Google Shape;302;p26"/>
          <p:cNvSpPr/>
          <p:nvPr/>
        </p:nvSpPr>
        <p:spPr>
          <a:xfrm>
            <a:off x="11854798" y="3824859"/>
            <a:ext cx="5385452" cy="123063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CH1 em TP700.</a:t>
            </a:r>
            <a:endParaRPr/>
          </a:p>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CH2 em TP701.</a:t>
            </a:r>
            <a:endParaRPr/>
          </a:p>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Garras no GND.</a:t>
            </a:r>
            <a:endParaRPr/>
          </a:p>
        </p:txBody>
      </p:sp>
      <p:sp>
        <p:nvSpPr>
          <p:cNvPr id="303" name="Google Shape;303;p26"/>
          <p:cNvSpPr/>
          <p:nvPr/>
        </p:nvSpPr>
        <p:spPr>
          <a:xfrm>
            <a:off x="11854798" y="5265420"/>
            <a:ext cx="538545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Carga e instrumento</a:t>
            </a:r>
            <a:endParaRPr/>
          </a:p>
        </p:txBody>
      </p:sp>
      <p:sp>
        <p:nvSpPr>
          <p:cNvPr id="304" name="Google Shape;304;p26"/>
          <p:cNvSpPr/>
          <p:nvPr/>
        </p:nvSpPr>
        <p:spPr>
          <a:xfrm>
            <a:off x="11854798" y="5706999"/>
            <a:ext cx="5385452" cy="13030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78"/>
              <a:buFont typeface="Open Sans"/>
              <a:buNone/>
            </a:pPr>
            <a:r>
              <a:rPr b="0" lang="en-US" sz="2178">
                <a:solidFill>
                  <a:srgbClr val="111111"/>
                </a:solidFill>
                <a:latin typeface="Open Sans"/>
                <a:ea typeface="Open Sans"/>
                <a:cs typeface="Open Sans"/>
                <a:sym typeface="Open Sans"/>
              </a:rPr>
              <a:t>O exemplo utiliza 10 kΩ na saída e entrada de alta impedância no osciloscópio.</a:t>
            </a:r>
            <a:endParaRPr/>
          </a:p>
        </p:txBody>
      </p:sp>
      <p:sp>
        <p:nvSpPr>
          <p:cNvPr id="305" name="Google Shape;305;p26"/>
          <p:cNvSpPr/>
          <p:nvPr/>
        </p:nvSpPr>
        <p:spPr>
          <a:xfrm>
            <a:off x="11854798" y="7219950"/>
            <a:ext cx="5385452"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Relé em repouso</a:t>
            </a:r>
            <a:endParaRPr/>
          </a:p>
        </p:txBody>
      </p:sp>
      <p:sp>
        <p:nvSpPr>
          <p:cNvPr id="306" name="Google Shape;306;p26"/>
          <p:cNvSpPr/>
          <p:nvPr/>
        </p:nvSpPr>
        <p:spPr>
          <a:xfrm>
            <a:off x="11854798" y="7661529"/>
            <a:ext cx="5385452" cy="11292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112"/>
              <a:buFont typeface="Open Sans"/>
              <a:buNone/>
            </a:pPr>
            <a:r>
              <a:rPr b="0" lang="en-US" sz="2112">
                <a:solidFill>
                  <a:srgbClr val="111111"/>
                </a:solidFill>
                <a:latin typeface="Open Sans"/>
                <a:ea typeface="Open Sans"/>
                <a:cs typeface="Open Sans"/>
                <a:sym typeface="Open Sans"/>
              </a:rPr>
              <a:t>TP701 segue o caminho ao GND por 1 kΩ. TP700 pode manter o comando.</a:t>
            </a:r>
            <a:endParaRPr/>
          </a:p>
        </p:txBody>
      </p:sp>
      <p:sp>
        <p:nvSpPr>
          <p:cNvPr id="307" name="Google Shape;307;p26"/>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20/26</a:t>
            </a:r>
            <a:endParaRPr/>
          </a:p>
        </p:txBody>
      </p:sp>
      <p:pic>
        <p:nvPicPr>
          <p:cNvPr id="308" name="Google Shape;308;p26"/>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13" name="Shape 313"/>
        <p:cNvGrpSpPr/>
        <p:nvPr/>
      </p:nvGrpSpPr>
      <p:grpSpPr>
        <a:xfrm>
          <a:off x="0" y="0"/>
          <a:ext cx="0" cy="0"/>
          <a:chOff x="0" y="0"/>
          <a:chExt cx="0" cy="0"/>
        </a:xfrm>
      </p:grpSpPr>
      <p:sp>
        <p:nvSpPr>
          <p:cNvPr id="314" name="Google Shape;314;p27"/>
          <p:cNvSpPr/>
          <p:nvPr/>
        </p:nvSpPr>
        <p:spPr>
          <a:xfrm>
            <a:off x="3912474" y="3343275"/>
            <a:ext cx="10463052" cy="4604385"/>
          </a:xfrm>
          <a:prstGeom prst="roundRect">
            <a:avLst>
              <a:gd fmla="val 3310" name="adj"/>
            </a:avLst>
          </a:prstGeom>
          <a:solidFill>
            <a:srgbClr val="FFFFFF"/>
          </a:solidFill>
          <a:ln cap="flat" cmpd="sng" w="28575">
            <a:solidFill>
              <a:srgbClr val="234BF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Sinal rápido e monitoramento lento</a:t>
            </a:r>
            <a:endParaRPr/>
          </a:p>
        </p:txBody>
      </p:sp>
      <p:sp>
        <p:nvSpPr>
          <p:cNvPr id="316" name="Google Shape;316;p27"/>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O receptor óptico de dados e a entrada de monitoramento da placa observam grandezas em escalas diferentes.</a:t>
            </a:r>
            <a:endParaRPr/>
          </a:p>
        </p:txBody>
      </p:sp>
      <p:pic>
        <p:nvPicPr>
          <p:cNvPr id="317" name="Google Shape;317;p27"/>
          <p:cNvPicPr preferRelativeResize="0"/>
          <p:nvPr/>
        </p:nvPicPr>
        <p:blipFill rotWithShape="1">
          <a:blip r:embed="rId3">
            <a:alphaModFix/>
          </a:blip>
          <a:srcRect b="18174" l="0" r="0" t="0"/>
          <a:stretch/>
        </p:blipFill>
        <p:spPr>
          <a:xfrm>
            <a:off x="3988675" y="3419475"/>
            <a:ext cx="10310650" cy="3643000"/>
          </a:xfrm>
          <a:prstGeom prst="rect">
            <a:avLst/>
          </a:prstGeom>
          <a:noFill/>
          <a:ln>
            <a:noFill/>
          </a:ln>
        </p:spPr>
      </p:pic>
      <p:sp>
        <p:nvSpPr>
          <p:cNvPr id="318" name="Google Shape;318;p27"/>
          <p:cNvSpPr/>
          <p:nvPr/>
        </p:nvSpPr>
        <p:spPr>
          <a:xfrm>
            <a:off x="1047750" y="8132064"/>
            <a:ext cx="16192500" cy="65874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508"/>
              <a:buFont typeface="Open Sans"/>
              <a:buNone/>
            </a:pPr>
            <a:r>
              <a:rPr b="1" lang="en-US" sz="2508">
                <a:solidFill>
                  <a:srgbClr val="111111"/>
                </a:solidFill>
                <a:latin typeface="Open Sans"/>
                <a:ea typeface="Open Sans"/>
                <a:cs typeface="Open Sans"/>
                <a:sym typeface="Open Sans"/>
              </a:rPr>
              <a:t>TP501 acompanha o monitor filtrado. TP701 permite observar o BIAS entregue ao MZM.</a:t>
            </a:r>
            <a:endParaRPr/>
          </a:p>
        </p:txBody>
      </p:sp>
      <p:sp>
        <p:nvSpPr>
          <p:cNvPr id="319" name="Google Shape;319;p27"/>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22/2</a:t>
            </a:r>
            <a:r>
              <a:rPr lang="en-US" sz="1800">
                <a:solidFill>
                  <a:srgbClr val="111111"/>
                </a:solidFill>
                <a:latin typeface="Open Sans"/>
                <a:ea typeface="Open Sans"/>
                <a:cs typeface="Open Sans"/>
                <a:sym typeface="Open Sans"/>
              </a:rPr>
              <a:t>4</a:t>
            </a:r>
            <a:endParaRPr/>
          </a:p>
        </p:txBody>
      </p:sp>
      <p:pic>
        <p:nvPicPr>
          <p:cNvPr id="320" name="Google Shape;320;p27"/>
          <p:cNvPicPr preferRelativeResize="0"/>
          <p:nvPr/>
        </p:nvPicPr>
        <p:blipFill rotWithShape="1">
          <a:blip r:embed="rId4">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25" name="Shape 325"/>
        <p:cNvGrpSpPr/>
        <p:nvPr/>
      </p:nvGrpSpPr>
      <p:grpSpPr>
        <a:xfrm>
          <a:off x="0" y="0"/>
          <a:ext cx="0" cy="0"/>
          <a:chOff x="0" y="0"/>
          <a:chExt cx="0" cy="0"/>
        </a:xfrm>
      </p:grpSpPr>
      <p:sp>
        <p:nvSpPr>
          <p:cNvPr id="326" name="Google Shape;326;p28"/>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Sequência de funcionamento</a:t>
            </a:r>
            <a:endParaRPr/>
          </a:p>
        </p:txBody>
      </p:sp>
      <p:sp>
        <p:nvSpPr>
          <p:cNvPr id="327" name="Google Shape;327;p28"/>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arquitetura organiza a partida, a medição, a atuação e o desarme.</a:t>
            </a:r>
            <a:endParaRPr/>
          </a:p>
        </p:txBody>
      </p:sp>
      <p:sp>
        <p:nvSpPr>
          <p:cNvPr id="328" name="Google Shape;328;p28"/>
          <p:cNvSpPr/>
          <p:nvPr/>
        </p:nvSpPr>
        <p:spPr>
          <a:xfrm>
            <a:off x="1047750" y="334708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1. Alimentar</a:t>
            </a:r>
            <a:endParaRPr/>
          </a:p>
        </p:txBody>
      </p:sp>
      <p:sp>
        <p:nvSpPr>
          <p:cNvPr id="329" name="Google Shape;329;p28"/>
          <p:cNvSpPr/>
          <p:nvPr/>
        </p:nvSpPr>
        <p:spPr>
          <a:xfrm>
            <a:off x="1047750" y="3788664"/>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Os 15 V entram em J200 e estabelecem os ramos internos.</a:t>
            </a:r>
            <a:endParaRPr/>
          </a:p>
        </p:txBody>
      </p:sp>
      <p:sp>
        <p:nvSpPr>
          <p:cNvPr id="330" name="Google Shape;330;p28"/>
          <p:cNvSpPr/>
          <p:nvPr/>
        </p:nvSpPr>
        <p:spPr>
          <a:xfrm>
            <a:off x="1047750" y="5120640"/>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2. Inicializar</a:t>
            </a:r>
            <a:endParaRPr/>
          </a:p>
        </p:txBody>
      </p:sp>
      <p:sp>
        <p:nvSpPr>
          <p:cNvPr id="331" name="Google Shape;331;p28"/>
          <p:cNvSpPr/>
          <p:nvPr/>
        </p:nvSpPr>
        <p:spPr>
          <a:xfrm>
            <a:off x="1047750" y="5562219"/>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 controle configura ADC e DAC e aplica o comando de zero BIAS.</a:t>
            </a:r>
            <a:endParaRPr/>
          </a:p>
        </p:txBody>
      </p:sp>
      <p:sp>
        <p:nvSpPr>
          <p:cNvPr id="332" name="Google Shape;332;p28"/>
          <p:cNvSpPr/>
          <p:nvPr/>
        </p:nvSpPr>
        <p:spPr>
          <a:xfrm>
            <a:off x="1047750" y="689419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3. Autorizar</a:t>
            </a:r>
            <a:endParaRPr/>
          </a:p>
        </p:txBody>
      </p:sp>
      <p:sp>
        <p:nvSpPr>
          <p:cNvPr id="333" name="Google Shape;333;p28"/>
          <p:cNvSpPr/>
          <p:nvPr/>
        </p:nvSpPr>
        <p:spPr>
          <a:xfrm>
            <a:off x="1047750" y="7335774"/>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lang="en-US" sz="2310">
                <a:solidFill>
                  <a:srgbClr val="111111"/>
                </a:solidFill>
                <a:latin typeface="Open Sans"/>
                <a:ea typeface="Open Sans"/>
                <a:cs typeface="Open Sans"/>
                <a:sym typeface="Open Sans"/>
              </a:rPr>
              <a:t>A</a:t>
            </a:r>
            <a:r>
              <a:rPr b="0" lang="en-US" sz="2310">
                <a:solidFill>
                  <a:srgbClr val="111111"/>
                </a:solidFill>
                <a:latin typeface="Open Sans"/>
                <a:ea typeface="Open Sans"/>
                <a:cs typeface="Open Sans"/>
                <a:sym typeface="Open Sans"/>
              </a:rPr>
              <a:t>usência de falha detectada e SW1000 permitem energizar os relés.</a:t>
            </a:r>
            <a:endParaRPr/>
          </a:p>
        </p:txBody>
      </p:sp>
      <p:sp>
        <p:nvSpPr>
          <p:cNvPr id="334" name="Google Shape;334;p28"/>
          <p:cNvSpPr/>
          <p:nvPr/>
        </p:nvSpPr>
        <p:spPr>
          <a:xfrm>
            <a:off x="9505440" y="334708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4. Medir</a:t>
            </a:r>
            <a:endParaRPr/>
          </a:p>
        </p:txBody>
      </p:sp>
      <p:sp>
        <p:nvSpPr>
          <p:cNvPr id="335" name="Google Shape;335;p28"/>
          <p:cNvSpPr/>
          <p:nvPr/>
        </p:nvSpPr>
        <p:spPr>
          <a:xfrm>
            <a:off x="9505440" y="3788664"/>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 Pico lê o fotodiodo e os monitores dos canais. O CM5 registra os dados.</a:t>
            </a:r>
            <a:endParaRPr/>
          </a:p>
        </p:txBody>
      </p:sp>
      <p:sp>
        <p:nvSpPr>
          <p:cNvPr id="336" name="Google Shape;336;p28"/>
          <p:cNvSpPr/>
          <p:nvPr/>
        </p:nvSpPr>
        <p:spPr>
          <a:xfrm>
            <a:off x="9505440" y="5120640"/>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5. Atuar</a:t>
            </a:r>
            <a:endParaRPr/>
          </a:p>
        </p:txBody>
      </p:sp>
      <p:sp>
        <p:nvSpPr>
          <p:cNvPr id="337" name="Google Shape;337;p28"/>
          <p:cNvSpPr/>
          <p:nvPr/>
        </p:nvSpPr>
        <p:spPr>
          <a:xfrm>
            <a:off x="9505440" y="5562219"/>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O algoritmo escolhe os comandos. DAC e drivers atualizam as polarizações.</a:t>
            </a:r>
            <a:endParaRPr/>
          </a:p>
        </p:txBody>
      </p:sp>
      <p:sp>
        <p:nvSpPr>
          <p:cNvPr id="338" name="Google Shape;338;p28"/>
          <p:cNvSpPr/>
          <p:nvPr/>
        </p:nvSpPr>
        <p:spPr>
          <a:xfrm>
            <a:off x="9505440" y="6894195"/>
            <a:ext cx="7734810" cy="42044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34BFC"/>
              </a:buClr>
              <a:buSzPts val="2508"/>
              <a:buFont typeface="Open Sans"/>
              <a:buNone/>
            </a:pPr>
            <a:r>
              <a:rPr b="1" lang="en-US" sz="2508">
                <a:solidFill>
                  <a:srgbClr val="234BFC"/>
                </a:solidFill>
                <a:latin typeface="Open Sans"/>
                <a:ea typeface="Open Sans"/>
                <a:cs typeface="Open Sans"/>
                <a:sym typeface="Open Sans"/>
              </a:rPr>
              <a:t>6. Desarmar</a:t>
            </a:r>
            <a:endParaRPr/>
          </a:p>
        </p:txBody>
      </p:sp>
      <p:sp>
        <p:nvSpPr>
          <p:cNvPr id="339" name="Google Shape;339;p28"/>
          <p:cNvSpPr/>
          <p:nvPr/>
        </p:nvSpPr>
        <p:spPr>
          <a:xfrm>
            <a:off x="9505440" y="7335774"/>
            <a:ext cx="7734810" cy="112204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310"/>
              <a:buFont typeface="Open Sans"/>
              <a:buNone/>
            </a:pPr>
            <a:r>
              <a:rPr b="0" lang="en-US" sz="2310">
                <a:solidFill>
                  <a:srgbClr val="111111"/>
                </a:solidFill>
                <a:latin typeface="Open Sans"/>
                <a:ea typeface="Open Sans"/>
                <a:cs typeface="Open Sans"/>
                <a:sym typeface="Open Sans"/>
              </a:rPr>
              <a:t>A perda de autorização leva os contatos ao repouso e retira o driver da saída.</a:t>
            </a:r>
            <a:endParaRPr/>
          </a:p>
        </p:txBody>
      </p:sp>
      <p:sp>
        <p:nvSpPr>
          <p:cNvPr id="340" name="Google Shape;340;p28"/>
          <p:cNvSpPr/>
          <p:nvPr/>
        </p:nvSpPr>
        <p:spPr>
          <a:xfrm>
            <a:off x="16493979" y="9648825"/>
            <a:ext cx="104790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23/</a:t>
            </a:r>
            <a:r>
              <a:rPr lang="en-US" sz="1800">
                <a:solidFill>
                  <a:srgbClr val="111111"/>
                </a:solidFill>
                <a:latin typeface="Open Sans"/>
                <a:ea typeface="Open Sans"/>
                <a:cs typeface="Open Sans"/>
                <a:sym typeface="Open Sans"/>
              </a:rPr>
              <a:t>24</a:t>
            </a:r>
            <a:endParaRPr/>
          </a:p>
        </p:txBody>
      </p:sp>
      <p:pic>
        <p:nvPicPr>
          <p:cNvPr id="341" name="Google Shape;341;p28"/>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8F8"/>
        </a:solidFill>
      </p:bgPr>
    </p:bg>
    <p:spTree>
      <p:nvGrpSpPr>
        <p:cNvPr id="346" name="Shape 346"/>
        <p:cNvGrpSpPr/>
        <p:nvPr/>
      </p:nvGrpSpPr>
      <p:grpSpPr>
        <a:xfrm>
          <a:off x="0" y="0"/>
          <a:ext cx="0" cy="0"/>
          <a:chOff x="0" y="0"/>
          <a:chExt cx="0" cy="0"/>
        </a:xfrm>
      </p:grpSpPr>
      <p:sp>
        <p:nvSpPr>
          <p:cNvPr id="347" name="Google Shape;347;p29"/>
          <p:cNvSpPr/>
          <p:nvPr/>
        </p:nvSpPr>
        <p:spPr>
          <a:xfrm>
            <a:off x="1504950" y="685800"/>
            <a:ext cx="15278100" cy="1485900"/>
          </a:xfrm>
          <a:prstGeom prst="roundRect">
            <a:avLst>
              <a:gd fmla="val 30769" name="adj"/>
            </a:avLst>
          </a:prstGeom>
          <a:solidFill>
            <a:srgbClr val="234BFC"/>
          </a:solidFill>
          <a:ln>
            <a:noFill/>
          </a:ln>
        </p:spPr>
        <p:txBody>
          <a:bodyPr anchorCtr="0" anchor="ctr" bIns="38100" lIns="323850" spcFirstLastPara="1" rIns="323850" wrap="square" tIns="38100">
            <a:noAutofit/>
          </a:bodyPr>
          <a:lstStyle/>
          <a:p>
            <a:pPr indent="0" lvl="0" marL="0" marR="0" rtl="0" algn="ctr">
              <a:spcBef>
                <a:spcPts val="0"/>
              </a:spcBef>
              <a:spcAft>
                <a:spcPts val="0"/>
              </a:spcAft>
              <a:buClr>
                <a:srgbClr val="FFFFFF"/>
              </a:buClr>
              <a:buSzPts val="4050"/>
              <a:buFont typeface="Open Sans"/>
              <a:buNone/>
            </a:pPr>
            <a:r>
              <a:rPr b="1" lang="en-US" sz="4050">
                <a:solidFill>
                  <a:srgbClr val="FFFFFF"/>
                </a:solidFill>
                <a:latin typeface="Open Sans"/>
                <a:ea typeface="Open Sans"/>
                <a:cs typeface="Open Sans"/>
                <a:sym typeface="Open Sans"/>
              </a:rPr>
              <a:t>Resumo dos conectores</a:t>
            </a:r>
            <a:endParaRPr/>
          </a:p>
        </p:txBody>
      </p:sp>
      <p:sp>
        <p:nvSpPr>
          <p:cNvPr id="348" name="Google Shape;348;p29"/>
          <p:cNvSpPr/>
          <p:nvPr/>
        </p:nvSpPr>
        <p:spPr>
          <a:xfrm>
            <a:off x="1047750" y="2533650"/>
            <a:ext cx="16192500" cy="619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250"/>
              <a:buFont typeface="Open Sans"/>
              <a:buNone/>
            </a:pPr>
            <a:r>
              <a:rPr b="0" lang="en-US" sz="2250">
                <a:solidFill>
                  <a:srgbClr val="111111"/>
                </a:solidFill>
                <a:latin typeface="Open Sans"/>
                <a:ea typeface="Open Sans"/>
                <a:cs typeface="Open Sans"/>
                <a:sym typeface="Open Sans"/>
              </a:rPr>
              <a:t>A função do conector define qual dispositivo e qual tipo de sinal ele recebe ou fornece.</a:t>
            </a:r>
            <a:endParaRPr/>
          </a:p>
        </p:txBody>
      </p:sp>
      <p:graphicFrame>
        <p:nvGraphicFramePr>
          <p:cNvPr id="349" name="Google Shape;349;p29"/>
          <p:cNvGraphicFramePr/>
          <p:nvPr/>
        </p:nvGraphicFramePr>
        <p:xfrm>
          <a:off x="1047750" y="3252978"/>
          <a:ext cx="3000000" cy="3000000"/>
        </p:xfrm>
        <a:graphic>
          <a:graphicData uri="http://schemas.openxmlformats.org/drawingml/2006/table">
            <a:tbl>
              <a:tblPr>
                <a:noFill/>
                <a:tableStyleId>{AB66B845-1EDC-43A2-866E-C6FA973C604C}</a:tableStyleId>
              </a:tblPr>
              <a:tblGrid>
                <a:gridCol w="2801150"/>
                <a:gridCol w="5602325"/>
                <a:gridCol w="7789025"/>
              </a:tblGrid>
              <a:tr h="535675">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Conector</a:t>
                      </a:r>
                      <a:endParaRPr/>
                    </a:p>
                  </a:txBody>
                  <a:tcPr marT="45725" marB="45725" marR="91450" marL="91450" anchor="ctr">
                    <a:lnL cap="flat" cmpd="sng" w="15225">
                      <a:solidFill>
                        <a:srgbClr val="D6DEFF"/>
                      </a:solidFill>
                      <a:prstDash val="solid"/>
                      <a:round/>
                      <a:headEnd len="sm" w="sm" type="none"/>
                      <a:tailEnd len="sm" w="sm" type="none"/>
                    </a:lnL>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Dispositivo ligado</a:t>
                      </a:r>
                      <a:endParaRPr/>
                    </a:p>
                  </a:txBody>
                  <a:tcPr marT="45725" marB="45725" marR="91450" marL="91450" anchor="ctr">
                    <a:lnT cap="flat" cmpd="sng" w="15225">
                      <a:solidFill>
                        <a:srgbClr val="D6DEFF"/>
                      </a:solidFill>
                      <a:prstDash val="solid"/>
                      <a:round/>
                      <a:headEnd len="sm" w="sm" type="none"/>
                      <a:tailEnd len="sm" w="sm" type="none"/>
                    </a:lnT>
                    <a:solidFill>
                      <a:srgbClr val="234BFC"/>
                    </a:solidFill>
                  </a:tcPr>
                </a:tc>
                <a:tc>
                  <a:txBody>
                    <a:bodyPr/>
                    <a:lstStyle/>
                    <a:p>
                      <a:pPr indent="0" lvl="0" marL="0" marR="0" rtl="0" algn="l">
                        <a:spcBef>
                          <a:spcPts val="0"/>
                        </a:spcBef>
                        <a:spcAft>
                          <a:spcPts val="0"/>
                        </a:spcAft>
                        <a:buClr>
                          <a:srgbClr val="FFFFFF"/>
                        </a:buClr>
                        <a:buSzPts val="1979"/>
                        <a:buFont typeface="Open Sans"/>
                        <a:buNone/>
                      </a:pPr>
                      <a:r>
                        <a:rPr b="1" lang="en-US" sz="1980">
                          <a:solidFill>
                            <a:srgbClr val="FFFFFF"/>
                          </a:solidFill>
                          <a:latin typeface="Open Sans"/>
                          <a:ea typeface="Open Sans"/>
                          <a:cs typeface="Open Sans"/>
                          <a:sym typeface="Open Sans"/>
                        </a:rPr>
                        <a:t>Função</a:t>
                      </a:r>
                      <a:endParaRPr/>
                    </a:p>
                  </a:txBody>
                  <a:tcPr marT="45725" marB="45725" marR="91450" marL="91450" anchor="ctr">
                    <a:lnR cap="flat" cmpd="sng" w="15225">
                      <a:solidFill>
                        <a:srgbClr val="D6DEFF"/>
                      </a:solidFill>
                      <a:prstDash val="solid"/>
                      <a:round/>
                      <a:headEnd len="sm" w="sm" type="none"/>
                      <a:tailEnd len="sm" w="sm" type="none"/>
                    </a:lnR>
                    <a:lnT cap="flat" cmpd="sng" w="15225">
                      <a:solidFill>
                        <a:srgbClr val="D6DEFF"/>
                      </a:solidFill>
                      <a:prstDash val="solid"/>
                      <a:round/>
                      <a:headEnd len="sm" w="sm" type="none"/>
                      <a:tailEnd len="sm" w="sm" type="none"/>
                    </a:lnT>
                    <a:solidFill>
                      <a:srgbClr val="234BFC"/>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J100 e J101</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Compute Module 5</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Encaixe, energia e sinais do módulo</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J102</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Computador</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Dados USB e programação do CM5</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J103</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Periférico I²C</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3,3 V, GND, SDA e SCL</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J104</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Ventilador de 5 V</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Energia, tacômetro e PWM</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J200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Fonte externa</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única de 15 Vcc e GND</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J500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Fotodiodo monitor</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de corrente elétrica</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J700</a:t>
                      </a:r>
                      <a:endParaRPr/>
                    </a:p>
                  </a:txBody>
                  <a:tcPr marT="45725" marB="45725" marR="91450" marL="91450" anchor="ctr">
                    <a:lnL cap="flat" cmpd="sng" w="15225">
                      <a:solidFill>
                        <a:srgbClr val="D6DEFF"/>
                      </a:solidFill>
                      <a:prstDash val="solid"/>
                      <a:round/>
                      <a:headEnd len="sm" w="sm" type="none"/>
                      <a:tailEnd len="sm" w="sm" type="none"/>
                    </a:lnL>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de BIAS do MZM</a:t>
                      </a:r>
                      <a:endParaRPr/>
                    </a:p>
                  </a:txBody>
                  <a:tcPr marT="45725" marB="45725" marR="91450" marL="91450" anchor="ctr">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Polarização I</a:t>
                      </a:r>
                      <a:endParaRPr/>
                    </a:p>
                  </a:txBody>
                  <a:tcPr marT="45725" marB="45725" marR="91450" marL="91450" anchor="ctr">
                    <a:lnR cap="flat" cmpd="sng" w="15225">
                      <a:solidFill>
                        <a:srgbClr val="D6DEFF"/>
                      </a:solidFill>
                      <a:prstDash val="solid"/>
                      <a:round/>
                      <a:headEnd len="sm" w="sm" type="none"/>
                      <a:tailEnd len="sm" w="sm" type="none"/>
                    </a:lnR>
                    <a:solidFill>
                      <a:srgbClr val="FFFF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J800</a:t>
                      </a:r>
                      <a:endParaRPr/>
                    </a:p>
                  </a:txBody>
                  <a:tcPr marT="45725" marB="45725" marR="91450" marL="91450" anchor="ctr">
                    <a:lnL cap="flat" cmpd="sng" w="15225">
                      <a:solidFill>
                        <a:srgbClr val="D6DEFF"/>
                      </a:solidFill>
                      <a:prstDash val="solid"/>
                      <a:round/>
                      <a:headEnd len="sm" w="sm" type="none"/>
                      <a:tailEnd len="sm" w="sm" type="none"/>
                    </a:lnL>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compatível do MZM IQ</a:t>
                      </a:r>
                      <a:endParaRPr/>
                    </a:p>
                  </a:txBody>
                  <a:tcPr marT="45725" marB="45725" marR="91450" marL="91450" anchor="ctr">
                    <a:solidFill>
                      <a:srgbClr val="F1F4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Polarização Q</a:t>
                      </a:r>
                      <a:endParaRPr/>
                    </a:p>
                  </a:txBody>
                  <a:tcPr marT="45725" marB="45725" marR="91450" marL="91450" anchor="ctr">
                    <a:lnR cap="flat" cmpd="sng" w="15225">
                      <a:solidFill>
                        <a:srgbClr val="D6DEFF"/>
                      </a:solidFill>
                      <a:prstDash val="solid"/>
                      <a:round/>
                      <a:headEnd len="sm" w="sm" type="none"/>
                      <a:tailEnd len="sm" w="sm" type="none"/>
                    </a:lnR>
                    <a:solidFill>
                      <a:srgbClr val="F1F4FF"/>
                    </a:solidFill>
                  </a:tcPr>
                </a:tc>
              </a:tr>
              <a:tr h="535675">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J900</a:t>
                      </a:r>
                      <a:endParaRPr/>
                    </a:p>
                  </a:txBody>
                  <a:tcPr marT="45725" marB="45725" marR="91450" marL="91450" anchor="ctr">
                    <a:lnL cap="flat" cmpd="sng" w="15225">
                      <a:solidFill>
                        <a:srgbClr val="D6DEFF"/>
                      </a:solidFill>
                      <a:prstDash val="solid"/>
                      <a:round/>
                      <a:headEnd len="sm" w="sm" type="none"/>
                      <a:tailEnd len="sm" w="sm" type="none"/>
                    </a:lnL>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Entrada compatível do MZM IQ</a:t>
                      </a:r>
                      <a:endParaRPr/>
                    </a:p>
                  </a:txBody>
                  <a:tcPr marT="45725" marB="45725" marR="91450" marL="91450" anchor="ctr">
                    <a:lnB cap="flat" cmpd="sng" w="15225">
                      <a:solidFill>
                        <a:srgbClr val="D6DE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11111"/>
                        </a:buClr>
                        <a:buSzPts val="1979"/>
                        <a:buFont typeface="Open Sans"/>
                        <a:buNone/>
                      </a:pPr>
                      <a:r>
                        <a:rPr b="0" lang="en-US" sz="1980">
                          <a:solidFill>
                            <a:srgbClr val="111111"/>
                          </a:solidFill>
                          <a:latin typeface="Open Sans"/>
                          <a:ea typeface="Open Sans"/>
                          <a:cs typeface="Open Sans"/>
                          <a:sym typeface="Open Sans"/>
                        </a:rPr>
                        <a:t>Polarização PHI</a:t>
                      </a:r>
                      <a:endParaRPr/>
                    </a:p>
                  </a:txBody>
                  <a:tcPr marT="45725" marB="45725" marR="91450" marL="91450" anchor="ctr">
                    <a:lnR cap="flat" cmpd="sng" w="15225">
                      <a:solidFill>
                        <a:srgbClr val="D6DEFF"/>
                      </a:solidFill>
                      <a:prstDash val="solid"/>
                      <a:round/>
                      <a:headEnd len="sm" w="sm" type="none"/>
                      <a:tailEnd len="sm" w="sm" type="none"/>
                    </a:lnR>
                    <a:lnB cap="flat" cmpd="sng" w="15225">
                      <a:solidFill>
                        <a:srgbClr val="D6DEFF"/>
                      </a:solidFill>
                      <a:prstDash val="solid"/>
                      <a:round/>
                      <a:headEnd len="sm" w="sm" type="none"/>
                      <a:tailEnd len="sm" w="sm" type="none"/>
                    </a:lnB>
                    <a:solidFill>
                      <a:srgbClr val="FFFFFF"/>
                    </a:solidFill>
                  </a:tcPr>
                </a:tc>
              </a:tr>
            </a:tbl>
          </a:graphicData>
        </a:graphic>
      </p:graphicFrame>
      <p:sp>
        <p:nvSpPr>
          <p:cNvPr id="350" name="Google Shape;350;p29"/>
          <p:cNvSpPr/>
          <p:nvPr/>
        </p:nvSpPr>
        <p:spPr>
          <a:xfrm>
            <a:off x="16478250" y="9648825"/>
            <a:ext cx="1047750" cy="3429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11111"/>
              </a:buClr>
              <a:buSzPts val="1800"/>
              <a:buFont typeface="Open Sans"/>
              <a:buNone/>
            </a:pPr>
            <a:r>
              <a:rPr b="0" lang="en-US" sz="1800">
                <a:solidFill>
                  <a:srgbClr val="111111"/>
                </a:solidFill>
                <a:latin typeface="Open Sans"/>
                <a:ea typeface="Open Sans"/>
                <a:cs typeface="Open Sans"/>
                <a:sym typeface="Open Sans"/>
              </a:rPr>
              <a:t>2</a:t>
            </a:r>
            <a:r>
              <a:rPr lang="en-US" sz="1800">
                <a:solidFill>
                  <a:srgbClr val="111111"/>
                </a:solidFill>
                <a:latin typeface="Open Sans"/>
                <a:ea typeface="Open Sans"/>
                <a:cs typeface="Open Sans"/>
                <a:sym typeface="Open Sans"/>
              </a:rPr>
              <a:t>4</a:t>
            </a:r>
            <a:r>
              <a:rPr b="0" lang="en-US" sz="1800">
                <a:solidFill>
                  <a:srgbClr val="111111"/>
                </a:solidFill>
                <a:latin typeface="Open Sans"/>
                <a:ea typeface="Open Sans"/>
                <a:cs typeface="Open Sans"/>
                <a:sym typeface="Open Sans"/>
              </a:rPr>
              <a:t>/2</a:t>
            </a:r>
            <a:r>
              <a:rPr lang="en-US" sz="1800">
                <a:solidFill>
                  <a:srgbClr val="111111"/>
                </a:solidFill>
                <a:latin typeface="Open Sans"/>
                <a:ea typeface="Open Sans"/>
                <a:cs typeface="Open Sans"/>
                <a:sym typeface="Open Sans"/>
              </a:rPr>
              <a:t>4</a:t>
            </a:r>
            <a:endParaRPr/>
          </a:p>
        </p:txBody>
      </p:sp>
      <p:pic>
        <p:nvPicPr>
          <p:cNvPr id="351" name="Google Shape;351;p29"/>
          <p:cNvPicPr preferRelativeResize="0"/>
          <p:nvPr/>
        </p:nvPicPr>
        <p:blipFill rotWithShape="1">
          <a:blip r:embed="rId3">
            <a:alphaModFix/>
          </a:blip>
          <a:srcRect b="0" l="0" r="0" t="0"/>
          <a:stretch/>
        </p:blipFill>
        <p:spPr>
          <a:xfrm>
            <a:off x="781050" y="9068347"/>
            <a:ext cx="990600" cy="9990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